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0080625" cy="5670550"/>
  <p:notesSz cx="7559675" cy="10691813"/>
  <p:embeddedFontLst>
    <p:embeddedFont>
      <p:font typeface="Alef" panose="00000500000000000000" pitchFamily="2" charset="-79"/>
      <p:regular r:id="rId15"/>
      <p:bold r:id="rId16"/>
    </p:embeddedFont>
    <p:embeddedFont>
      <p:font typeface="Tahoma" panose="020B0604030504040204" pitchFamily="34" charset="0"/>
      <p:regular r:id="rId17"/>
      <p:bold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D8B5D91-69DD-4FBD-BEE7-8DBDDD7CB514}">
  <a:tblStyle styleId="{0D8B5D91-69DD-4FBD-BEE7-8DBDDD7CB51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4" d="100"/>
          <a:sy n="94" d="100"/>
        </p:scale>
        <p:origin x="86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950" y="5078600"/>
            <a:ext cx="6047725" cy="48113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 name="Google Shape;65;p1: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 name="Google Shape;72;p2: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3: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 name="Google Shape;79;p3: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4: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5: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5: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6: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6: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7: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8: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8: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9: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9: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0: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10:notes"/>
          <p:cNvSpPr>
            <a:spLocks noGrp="1" noRot="1" noChangeAspect="1"/>
          </p:cNvSpPr>
          <p:nvPr>
            <p:ph type="sldImg" idx="2"/>
          </p:nvPr>
        </p:nvSpPr>
        <p:spPr>
          <a:xfrm>
            <a:off x="1260175" y="801875"/>
            <a:ext cx="5040025" cy="40094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1: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11: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2:notes"/>
          <p:cNvSpPr txBox="1">
            <a:spLocks noGrp="1"/>
          </p:cNvSpPr>
          <p:nvPr>
            <p:ph type="body" idx="1"/>
          </p:nvPr>
        </p:nvSpPr>
        <p:spPr>
          <a:xfrm>
            <a:off x="755950" y="5078600"/>
            <a:ext cx="6047725" cy="4811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3" name="Google Shape;173;p12:notes"/>
          <p:cNvSpPr>
            <a:spLocks noGrp="1" noRot="1" noChangeAspect="1"/>
          </p:cNvSpPr>
          <p:nvPr>
            <p:ph type="sldImg" idx="2"/>
          </p:nvPr>
        </p:nvSpPr>
        <p:spPr>
          <a:xfrm>
            <a:off x="217488" y="801688"/>
            <a:ext cx="7126287"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540000" y="450000"/>
            <a:ext cx="8640000" cy="63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540000" y="1350000"/>
            <a:ext cx="9000000" cy="360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540000" y="450000"/>
            <a:ext cx="8640000" cy="63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body" idx="1"/>
          </p:nvPr>
        </p:nvSpPr>
        <p:spPr>
          <a:xfrm>
            <a:off x="540000" y="1350000"/>
            <a:ext cx="9000000" cy="3600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2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540000" y="450000"/>
            <a:ext cx="8640000" cy="63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5"/>
          <p:cNvSpPr txBox="1">
            <a:spLocks noGrp="1"/>
          </p:cNvSpPr>
          <p:nvPr>
            <p:ph type="body" idx="1"/>
          </p:nvPr>
        </p:nvSpPr>
        <p:spPr>
          <a:xfrm>
            <a:off x="540000" y="1350000"/>
            <a:ext cx="4391640" cy="3600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 name="Google Shape;25;p5"/>
          <p:cNvSpPr txBox="1">
            <a:spLocks noGrp="1"/>
          </p:cNvSpPr>
          <p:nvPr>
            <p:ph type="body" idx="2"/>
          </p:nvPr>
        </p:nvSpPr>
        <p:spPr>
          <a:xfrm>
            <a:off x="5151600" y="1350000"/>
            <a:ext cx="4391640" cy="3600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sp>
        <p:nvSpPr>
          <p:cNvPr id="27" name="Google Shape;27;p6"/>
          <p:cNvSpPr txBox="1">
            <a:spLocks noGrp="1"/>
          </p:cNvSpPr>
          <p:nvPr>
            <p:ph type="title"/>
          </p:nvPr>
        </p:nvSpPr>
        <p:spPr>
          <a:xfrm>
            <a:off x="540000" y="450000"/>
            <a:ext cx="8640000" cy="63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28"/>
        <p:cNvGrpSpPr/>
        <p:nvPr/>
      </p:nvGrpSpPr>
      <p:grpSpPr>
        <a:xfrm>
          <a:off x="0" y="0"/>
          <a:ext cx="0" cy="0"/>
          <a:chOff x="0" y="0"/>
          <a:chExt cx="0" cy="0"/>
        </a:xfrm>
      </p:grpSpPr>
      <p:sp>
        <p:nvSpPr>
          <p:cNvPr id="29" name="Google Shape;29;p7"/>
          <p:cNvSpPr txBox="1">
            <a:spLocks noGrp="1"/>
          </p:cNvSpPr>
          <p:nvPr>
            <p:ph type="subTitle" idx="1"/>
          </p:nvPr>
        </p:nvSpPr>
        <p:spPr>
          <a:xfrm>
            <a:off x="540000" y="450000"/>
            <a:ext cx="8640000" cy="292176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540000" y="450000"/>
            <a:ext cx="8640000" cy="63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8"/>
          <p:cNvSpPr txBox="1">
            <a:spLocks noGrp="1"/>
          </p:cNvSpPr>
          <p:nvPr>
            <p:ph type="body" idx="1"/>
          </p:nvPr>
        </p:nvSpPr>
        <p:spPr>
          <a:xfrm>
            <a:off x="540000" y="1350000"/>
            <a:ext cx="4391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8"/>
          <p:cNvSpPr txBox="1">
            <a:spLocks noGrp="1"/>
          </p:cNvSpPr>
          <p:nvPr>
            <p:ph type="body" idx="2"/>
          </p:nvPr>
        </p:nvSpPr>
        <p:spPr>
          <a:xfrm>
            <a:off x="5151600" y="1350000"/>
            <a:ext cx="4391640" cy="3600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4" name="Google Shape;34;p8"/>
          <p:cNvSpPr txBox="1">
            <a:spLocks noGrp="1"/>
          </p:cNvSpPr>
          <p:nvPr>
            <p:ph type="body" idx="3"/>
          </p:nvPr>
        </p:nvSpPr>
        <p:spPr>
          <a:xfrm>
            <a:off x="540000" y="3230280"/>
            <a:ext cx="4391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540000" y="450000"/>
            <a:ext cx="8640000" cy="63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9"/>
          <p:cNvSpPr txBox="1">
            <a:spLocks noGrp="1"/>
          </p:cNvSpPr>
          <p:nvPr>
            <p:ph type="body" idx="1"/>
          </p:nvPr>
        </p:nvSpPr>
        <p:spPr>
          <a:xfrm>
            <a:off x="540000" y="1350000"/>
            <a:ext cx="4391640" cy="360000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8" name="Google Shape;38;p9"/>
          <p:cNvSpPr txBox="1">
            <a:spLocks noGrp="1"/>
          </p:cNvSpPr>
          <p:nvPr>
            <p:ph type="body" idx="2"/>
          </p:nvPr>
        </p:nvSpPr>
        <p:spPr>
          <a:xfrm>
            <a:off x="5151600" y="1350000"/>
            <a:ext cx="4391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9" name="Google Shape;39;p9"/>
          <p:cNvSpPr txBox="1">
            <a:spLocks noGrp="1"/>
          </p:cNvSpPr>
          <p:nvPr>
            <p:ph type="body" idx="3"/>
          </p:nvPr>
        </p:nvSpPr>
        <p:spPr>
          <a:xfrm>
            <a:off x="5151600" y="3230280"/>
            <a:ext cx="4391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40"/>
        <p:cNvGrpSpPr/>
        <p:nvPr/>
      </p:nvGrpSpPr>
      <p:grpSpPr>
        <a:xfrm>
          <a:off x="0" y="0"/>
          <a:ext cx="0" cy="0"/>
          <a:chOff x="0" y="0"/>
          <a:chExt cx="0" cy="0"/>
        </a:xfrm>
      </p:grpSpPr>
      <p:sp>
        <p:nvSpPr>
          <p:cNvPr id="41" name="Google Shape;41;p10"/>
          <p:cNvSpPr txBox="1">
            <a:spLocks noGrp="1"/>
          </p:cNvSpPr>
          <p:nvPr>
            <p:ph type="title"/>
          </p:nvPr>
        </p:nvSpPr>
        <p:spPr>
          <a:xfrm>
            <a:off x="540000" y="450000"/>
            <a:ext cx="8640000" cy="63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body" idx="1"/>
          </p:nvPr>
        </p:nvSpPr>
        <p:spPr>
          <a:xfrm>
            <a:off x="540000" y="1350000"/>
            <a:ext cx="4391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3" name="Google Shape;43;p10"/>
          <p:cNvSpPr txBox="1">
            <a:spLocks noGrp="1"/>
          </p:cNvSpPr>
          <p:nvPr>
            <p:ph type="body" idx="2"/>
          </p:nvPr>
        </p:nvSpPr>
        <p:spPr>
          <a:xfrm>
            <a:off x="5151600" y="1350000"/>
            <a:ext cx="4391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4" name="Google Shape;44;p10"/>
          <p:cNvSpPr txBox="1">
            <a:spLocks noGrp="1"/>
          </p:cNvSpPr>
          <p:nvPr>
            <p:ph type="body" idx="3"/>
          </p:nvPr>
        </p:nvSpPr>
        <p:spPr>
          <a:xfrm>
            <a:off x="540000" y="3230280"/>
            <a:ext cx="900000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540000" y="450000"/>
            <a:ext cx="8640000" cy="63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1"/>
          <p:cNvSpPr txBox="1">
            <a:spLocks noGrp="1"/>
          </p:cNvSpPr>
          <p:nvPr>
            <p:ph type="body" idx="1"/>
          </p:nvPr>
        </p:nvSpPr>
        <p:spPr>
          <a:xfrm>
            <a:off x="540000" y="1350000"/>
            <a:ext cx="900000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48" name="Google Shape;48;p11"/>
          <p:cNvSpPr txBox="1">
            <a:spLocks noGrp="1"/>
          </p:cNvSpPr>
          <p:nvPr>
            <p:ph type="body" idx="2"/>
          </p:nvPr>
        </p:nvSpPr>
        <p:spPr>
          <a:xfrm>
            <a:off x="540000" y="3230280"/>
            <a:ext cx="900000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540000" y="450000"/>
            <a:ext cx="8640000" cy="63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2"/>
          <p:cNvSpPr txBox="1">
            <a:spLocks noGrp="1"/>
          </p:cNvSpPr>
          <p:nvPr>
            <p:ph type="body" idx="1"/>
          </p:nvPr>
        </p:nvSpPr>
        <p:spPr>
          <a:xfrm>
            <a:off x="540000" y="1350000"/>
            <a:ext cx="4391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2" name="Google Shape;52;p12"/>
          <p:cNvSpPr txBox="1">
            <a:spLocks noGrp="1"/>
          </p:cNvSpPr>
          <p:nvPr>
            <p:ph type="body" idx="2"/>
          </p:nvPr>
        </p:nvSpPr>
        <p:spPr>
          <a:xfrm>
            <a:off x="5151600" y="1350000"/>
            <a:ext cx="4391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3" name="Google Shape;53;p12"/>
          <p:cNvSpPr txBox="1">
            <a:spLocks noGrp="1"/>
          </p:cNvSpPr>
          <p:nvPr>
            <p:ph type="body" idx="3"/>
          </p:nvPr>
        </p:nvSpPr>
        <p:spPr>
          <a:xfrm>
            <a:off x="540000" y="3230280"/>
            <a:ext cx="4391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4" name="Google Shape;54;p12"/>
          <p:cNvSpPr txBox="1">
            <a:spLocks noGrp="1"/>
          </p:cNvSpPr>
          <p:nvPr>
            <p:ph type="body" idx="4"/>
          </p:nvPr>
        </p:nvSpPr>
        <p:spPr>
          <a:xfrm>
            <a:off x="5151600" y="3230280"/>
            <a:ext cx="4391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540000" y="450000"/>
            <a:ext cx="8640000" cy="630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540000" y="1350000"/>
            <a:ext cx="2897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8" name="Google Shape;58;p13"/>
          <p:cNvSpPr txBox="1">
            <a:spLocks noGrp="1"/>
          </p:cNvSpPr>
          <p:nvPr>
            <p:ph type="body" idx="2"/>
          </p:nvPr>
        </p:nvSpPr>
        <p:spPr>
          <a:xfrm>
            <a:off x="3583080" y="1350000"/>
            <a:ext cx="2897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59" name="Google Shape;59;p13"/>
          <p:cNvSpPr txBox="1">
            <a:spLocks noGrp="1"/>
          </p:cNvSpPr>
          <p:nvPr>
            <p:ph type="body" idx="3"/>
          </p:nvPr>
        </p:nvSpPr>
        <p:spPr>
          <a:xfrm>
            <a:off x="6625800" y="1350000"/>
            <a:ext cx="2897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0" name="Google Shape;60;p13"/>
          <p:cNvSpPr txBox="1">
            <a:spLocks noGrp="1"/>
          </p:cNvSpPr>
          <p:nvPr>
            <p:ph type="body" idx="4"/>
          </p:nvPr>
        </p:nvSpPr>
        <p:spPr>
          <a:xfrm>
            <a:off x="540000" y="3230280"/>
            <a:ext cx="2897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1" name="Google Shape;61;p13"/>
          <p:cNvSpPr txBox="1">
            <a:spLocks noGrp="1"/>
          </p:cNvSpPr>
          <p:nvPr>
            <p:ph type="body" idx="5"/>
          </p:nvPr>
        </p:nvSpPr>
        <p:spPr>
          <a:xfrm>
            <a:off x="3583080" y="3230280"/>
            <a:ext cx="2897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62" name="Google Shape;62;p13"/>
          <p:cNvSpPr txBox="1">
            <a:spLocks noGrp="1"/>
          </p:cNvSpPr>
          <p:nvPr>
            <p:ph type="body" idx="6"/>
          </p:nvPr>
        </p:nvSpPr>
        <p:spPr>
          <a:xfrm>
            <a:off x="6625800" y="3230280"/>
            <a:ext cx="2897640" cy="1716840"/>
          </a:xfrm>
          <a:prstGeom prst="rect">
            <a:avLst/>
          </a:prstGeom>
          <a:noFill/>
          <a:ln>
            <a:noFill/>
          </a:ln>
        </p:spPr>
        <p:txBody>
          <a:bodyPr spcFirstLastPara="1" wrap="square" lIns="0" tIns="0" rIns="0" bIns="0" anchor="t" anchorCtr="0">
            <a:norm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
        <p:cNvGrpSpPr/>
        <p:nvPr/>
      </p:nvGrpSpPr>
      <p:grpSpPr>
        <a:xfrm>
          <a:off x="0" y="0"/>
          <a:ext cx="0" cy="0"/>
          <a:chOff x="0" y="0"/>
          <a:chExt cx="0" cy="0"/>
        </a:xfrm>
      </p:grpSpPr>
      <p:sp>
        <p:nvSpPr>
          <p:cNvPr id="6" name="Google Shape;6;p1"/>
          <p:cNvSpPr/>
          <p:nvPr/>
        </p:nvSpPr>
        <p:spPr>
          <a:xfrm>
            <a:off x="0" y="0"/>
            <a:ext cx="10080000" cy="566964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p1"/>
          <p:cNvSpPr/>
          <p:nvPr/>
        </p:nvSpPr>
        <p:spPr>
          <a:xfrm>
            <a:off x="270000" y="180000"/>
            <a:ext cx="9540000" cy="48600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p1"/>
          <p:cNvSpPr txBox="1">
            <a:spLocks noGrp="1"/>
          </p:cNvSpPr>
          <p:nvPr>
            <p:ph type="body" idx="1"/>
          </p:nvPr>
        </p:nvSpPr>
        <p:spPr>
          <a:xfrm>
            <a:off x="540000" y="1350000"/>
            <a:ext cx="9000000" cy="3600000"/>
          </a:xfrm>
          <a:prstGeom prst="rect">
            <a:avLst/>
          </a:prstGeom>
          <a:noFill/>
          <a:ln>
            <a:noFill/>
          </a:ln>
        </p:spPr>
        <p:txBody>
          <a:bodyPr spcFirstLastPara="1" wrap="square" lIns="0" tIns="0" rIns="0" bIns="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9" name="Google Shape;9;p1"/>
          <p:cNvSpPr/>
          <p:nvPr/>
        </p:nvSpPr>
        <p:spPr>
          <a:xfrm>
            <a:off x="7920000" y="90000"/>
            <a:ext cx="900000" cy="1170000"/>
          </a:xfrm>
          <a:prstGeom prst="rect">
            <a:avLst/>
          </a:prstGeom>
          <a:solidFill>
            <a:srgbClr val="7D8AE7"/>
          </a:solidFill>
          <a:ln w="10800" cap="flat" cmpd="sng">
            <a:solidFill>
              <a:srgbClr val="3F52D9"/>
            </a:solidFill>
            <a:prstDash val="solid"/>
            <a:round/>
            <a:headEnd type="none" w="sm" len="sm"/>
            <a:tailEnd type="none" w="sm" len="sm"/>
          </a:ln>
          <a:effectLst>
            <a:outerShdw dist="30547" dir="2700000">
              <a:srgbClr val="C1C7F4"/>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1"/>
          <p:cNvSpPr/>
          <p:nvPr/>
        </p:nvSpPr>
        <p:spPr>
          <a:xfrm>
            <a:off x="90000" y="450000"/>
            <a:ext cx="9090000" cy="630000"/>
          </a:xfrm>
          <a:prstGeom prst="rect">
            <a:avLst/>
          </a:prstGeom>
          <a:solidFill>
            <a:srgbClr val="B5E77D"/>
          </a:solidFill>
          <a:ln w="10800" cap="flat" cmpd="sng">
            <a:solidFill>
              <a:srgbClr val="91D93F"/>
            </a:solidFill>
            <a:prstDash val="solid"/>
            <a:round/>
            <a:headEnd type="none" w="sm" len="sm"/>
            <a:tailEnd type="none" w="sm" len="sm"/>
          </a:ln>
          <a:effectLst>
            <a:outerShdw dist="30547" dir="2700000">
              <a:srgbClr val="DCF1C1"/>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txBox="1">
            <a:spLocks noGrp="1"/>
          </p:cNvSpPr>
          <p:nvPr>
            <p:ph type="title"/>
          </p:nvPr>
        </p:nvSpPr>
        <p:spPr>
          <a:xfrm>
            <a:off x="540000" y="450000"/>
            <a:ext cx="8640000" cy="630000"/>
          </a:xfrm>
          <a:prstGeom prst="rect">
            <a:avLst/>
          </a:prstGeom>
          <a:noFill/>
          <a:ln>
            <a:noFill/>
          </a:ln>
        </p:spPr>
        <p:txBody>
          <a:bodyPr spcFirstLastPara="1" wrap="square" lIns="0" tIns="0" rIns="0" bIns="0" anchor="ctr"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2" name="Google Shape;12;p1"/>
          <p:cNvSpPr txBox="1">
            <a:spLocks noGrp="1"/>
          </p:cNvSpPr>
          <p:nvPr>
            <p:ph type="dt" idx="10"/>
          </p:nvPr>
        </p:nvSpPr>
        <p:spPr>
          <a:xfrm>
            <a:off x="504000" y="5164920"/>
            <a:ext cx="2348280" cy="39096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3" name="Google Shape;13;p1"/>
          <p:cNvSpPr txBox="1">
            <a:spLocks noGrp="1"/>
          </p:cNvSpPr>
          <p:nvPr>
            <p:ph type="ftr" idx="11"/>
          </p:nvPr>
        </p:nvSpPr>
        <p:spPr>
          <a:xfrm>
            <a:off x="3447360" y="5164920"/>
            <a:ext cx="3195000" cy="39096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a:endParaRPr/>
          </a:p>
        </p:txBody>
      </p:sp>
      <p:sp>
        <p:nvSpPr>
          <p:cNvPr id="14" name="Google Shape;14;p1"/>
          <p:cNvSpPr txBox="1">
            <a:spLocks noGrp="1"/>
          </p:cNvSpPr>
          <p:nvPr>
            <p:ph type="sldNum" idx="12"/>
          </p:nvPr>
        </p:nvSpPr>
        <p:spPr>
          <a:xfrm>
            <a:off x="7227000" y="5164920"/>
            <a:ext cx="2348280" cy="390960"/>
          </a:xfrm>
          <a:prstGeom prst="rect">
            <a:avLst/>
          </a:prstGeom>
          <a:noFill/>
          <a:ln>
            <a:noFill/>
          </a:ln>
        </p:spPr>
        <p:txBody>
          <a:bodyPr spcFirstLastPara="1" wrap="square" lIns="0" tIns="0" rIns="0" bIns="0" anchor="t" anchorCtr="0">
            <a:noAutofit/>
          </a:bodyPr>
          <a:lstStyle>
            <a:lvl1pPr marL="0" marR="0" lvl="0" indent="0" algn="r" rtl="0">
              <a:spcBef>
                <a:spcPts val="0"/>
              </a:spcBef>
              <a:buNone/>
              <a:defRPr sz="1400" b="0" i="0" u="none" strike="noStrike" cap="none">
                <a:solidFill>
                  <a:srgbClr val="EEEEEE"/>
                </a:solidFill>
                <a:latin typeface="Arial"/>
                <a:ea typeface="Arial"/>
                <a:cs typeface="Arial"/>
                <a:sym typeface="Arial"/>
              </a:defRPr>
            </a:lvl1pPr>
            <a:lvl2pPr marL="0" marR="0" lvl="1" indent="0" algn="r" rtl="0">
              <a:spcBef>
                <a:spcPts val="0"/>
              </a:spcBef>
              <a:buNone/>
              <a:defRPr sz="1400" b="0" i="0" u="none" strike="noStrike" cap="none">
                <a:solidFill>
                  <a:srgbClr val="EEEEEE"/>
                </a:solidFill>
                <a:latin typeface="Arial"/>
                <a:ea typeface="Arial"/>
                <a:cs typeface="Arial"/>
                <a:sym typeface="Arial"/>
              </a:defRPr>
            </a:lvl2pPr>
            <a:lvl3pPr marL="0" marR="0" lvl="2" indent="0" algn="r" rtl="0">
              <a:spcBef>
                <a:spcPts val="0"/>
              </a:spcBef>
              <a:buNone/>
              <a:defRPr sz="1400" b="0" i="0" u="none" strike="noStrike" cap="none">
                <a:solidFill>
                  <a:srgbClr val="EEEEEE"/>
                </a:solidFill>
                <a:latin typeface="Arial"/>
                <a:ea typeface="Arial"/>
                <a:cs typeface="Arial"/>
                <a:sym typeface="Arial"/>
              </a:defRPr>
            </a:lvl3pPr>
            <a:lvl4pPr marL="0" marR="0" lvl="3" indent="0" algn="r" rtl="0">
              <a:spcBef>
                <a:spcPts val="0"/>
              </a:spcBef>
              <a:buNone/>
              <a:defRPr sz="1400" b="0" i="0" u="none" strike="noStrike" cap="none">
                <a:solidFill>
                  <a:srgbClr val="EEEEEE"/>
                </a:solidFill>
                <a:latin typeface="Arial"/>
                <a:ea typeface="Arial"/>
                <a:cs typeface="Arial"/>
                <a:sym typeface="Arial"/>
              </a:defRPr>
            </a:lvl4pPr>
            <a:lvl5pPr marL="0" marR="0" lvl="4" indent="0" algn="r" rtl="0">
              <a:spcBef>
                <a:spcPts val="0"/>
              </a:spcBef>
              <a:buNone/>
              <a:defRPr sz="1400" b="0" i="0" u="none" strike="noStrike" cap="none">
                <a:solidFill>
                  <a:srgbClr val="EEEEEE"/>
                </a:solidFill>
                <a:latin typeface="Arial"/>
                <a:ea typeface="Arial"/>
                <a:cs typeface="Arial"/>
                <a:sym typeface="Arial"/>
              </a:defRPr>
            </a:lvl5pPr>
            <a:lvl6pPr marL="0" marR="0" lvl="5" indent="0" algn="r" rtl="0">
              <a:spcBef>
                <a:spcPts val="0"/>
              </a:spcBef>
              <a:buNone/>
              <a:defRPr sz="1400" b="0" i="0" u="none" strike="noStrike" cap="none">
                <a:solidFill>
                  <a:srgbClr val="EEEEEE"/>
                </a:solidFill>
                <a:latin typeface="Arial"/>
                <a:ea typeface="Arial"/>
                <a:cs typeface="Arial"/>
                <a:sym typeface="Arial"/>
              </a:defRPr>
            </a:lvl6pPr>
            <a:lvl7pPr marL="0" marR="0" lvl="6" indent="0" algn="r" rtl="0">
              <a:spcBef>
                <a:spcPts val="0"/>
              </a:spcBef>
              <a:buNone/>
              <a:defRPr sz="1400" b="0" i="0" u="none" strike="noStrike" cap="none">
                <a:solidFill>
                  <a:srgbClr val="EEEEEE"/>
                </a:solidFill>
                <a:latin typeface="Arial"/>
                <a:ea typeface="Arial"/>
                <a:cs typeface="Arial"/>
                <a:sym typeface="Arial"/>
              </a:defRPr>
            </a:lvl7pPr>
            <a:lvl8pPr marL="0" marR="0" lvl="7" indent="0" algn="r" rtl="0">
              <a:spcBef>
                <a:spcPts val="0"/>
              </a:spcBef>
              <a:buNone/>
              <a:defRPr sz="1400" b="0" i="0" u="none" strike="noStrike" cap="none">
                <a:solidFill>
                  <a:srgbClr val="EEEEEE"/>
                </a:solidFill>
                <a:latin typeface="Arial"/>
                <a:ea typeface="Arial"/>
                <a:cs typeface="Arial"/>
                <a:sym typeface="Arial"/>
              </a:defRPr>
            </a:lvl8pPr>
            <a:lvl9pPr marL="0" marR="0" lvl="8" indent="0" algn="r" rtl="0">
              <a:spcBef>
                <a:spcPts val="0"/>
              </a:spcBef>
              <a:buNone/>
              <a:defRPr sz="1400" b="0" i="0" u="none" strike="noStrike" cap="none">
                <a:solidFill>
                  <a:srgbClr val="EEEEEE"/>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p:nvPr/>
        </p:nvSpPr>
        <p:spPr>
          <a:xfrm>
            <a:off x="457200" y="1315080"/>
            <a:ext cx="8915400" cy="16448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800" b="0" i="0" u="none" strike="noStrike" cap="none" dirty="0">
                <a:latin typeface="+mj-lt"/>
                <a:ea typeface="Miriam Libre"/>
                <a:cs typeface="Miriam Libre"/>
                <a:sym typeface="Miriam Libre"/>
              </a:rPr>
              <a:t>Does Financial Crisis give Impacts on Bahrain Islamic Banking Performance?</a:t>
            </a:r>
            <a:endParaRPr sz="2800" b="0" i="0" u="none" strike="noStrike" cap="none" dirty="0">
              <a:latin typeface="+mj-lt"/>
              <a:ea typeface="Arial"/>
              <a:cs typeface="Arial"/>
              <a:sym typeface="Arial"/>
            </a:endParaRPr>
          </a:p>
          <a:p>
            <a:pPr marL="0" marR="0" lvl="0" indent="0" algn="ctr" rtl="0">
              <a:spcBef>
                <a:spcPts val="0"/>
              </a:spcBef>
              <a:spcAft>
                <a:spcPts val="0"/>
              </a:spcAft>
              <a:buNone/>
            </a:pPr>
            <a:r>
              <a:rPr lang="en-US" sz="2800" b="1" i="0" u="none" strike="noStrike" cap="none" dirty="0">
                <a:latin typeface="+mj-lt"/>
                <a:ea typeface="Arial Black"/>
                <a:cs typeface="Aparajita" panose="02020603050405020304" pitchFamily="18" charset="0"/>
                <a:sym typeface="Arial Black"/>
              </a:rPr>
              <a:t>A Panel Regression Analysis</a:t>
            </a:r>
          </a:p>
          <a:p>
            <a:pPr marL="0" marR="0" lvl="0" indent="0" algn="ctr" rtl="0">
              <a:spcBef>
                <a:spcPts val="0"/>
              </a:spcBef>
              <a:spcAft>
                <a:spcPts val="0"/>
              </a:spcAft>
              <a:buNone/>
            </a:pPr>
            <a:r>
              <a:rPr lang="en-US" sz="2800" b="1" dirty="0">
                <a:latin typeface="+mj-lt"/>
                <a:sym typeface="Arial Black"/>
              </a:rPr>
              <a:t>                             -Aishwarya Madan Borkar</a:t>
            </a:r>
            <a:endParaRPr sz="2800" b="0" i="0" u="none" strike="noStrike" cap="none" dirty="0">
              <a:latin typeface="+mj-lt"/>
              <a:ea typeface="Arial"/>
              <a:cs typeface="Arial"/>
              <a:sym typeface="Arial"/>
            </a:endParaRPr>
          </a:p>
        </p:txBody>
      </p:sp>
      <p:pic>
        <p:nvPicPr>
          <p:cNvPr id="68" name="Google Shape;68;p14"/>
          <p:cNvPicPr preferRelativeResize="0"/>
          <p:nvPr/>
        </p:nvPicPr>
        <p:blipFill rotWithShape="1">
          <a:blip r:embed="rId3">
            <a:alphaModFix/>
          </a:blip>
          <a:srcRect/>
          <a:stretch/>
        </p:blipFill>
        <p:spPr>
          <a:xfrm>
            <a:off x="1143000" y="2971800"/>
            <a:ext cx="3886200" cy="1828800"/>
          </a:xfrm>
          <a:prstGeom prst="rect">
            <a:avLst/>
          </a:prstGeom>
          <a:noFill/>
          <a:ln>
            <a:noFill/>
          </a:ln>
        </p:spPr>
      </p:pic>
      <p:pic>
        <p:nvPicPr>
          <p:cNvPr id="69" name="Google Shape;69;p14"/>
          <p:cNvPicPr preferRelativeResize="0"/>
          <p:nvPr/>
        </p:nvPicPr>
        <p:blipFill rotWithShape="1">
          <a:blip r:embed="rId4">
            <a:alphaModFix/>
          </a:blip>
          <a:srcRect/>
          <a:stretch/>
        </p:blipFill>
        <p:spPr>
          <a:xfrm>
            <a:off x="5257800" y="2971800"/>
            <a:ext cx="3657600" cy="1828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p:nvPr/>
        </p:nvSpPr>
        <p:spPr>
          <a:xfrm>
            <a:off x="504000" y="0"/>
            <a:ext cx="8640000" cy="153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700" b="1" i="0" u="none" strike="noStrike" cap="none">
                <a:latin typeface="Arial"/>
                <a:ea typeface="Arial"/>
                <a:cs typeface="Arial"/>
                <a:sym typeface="Arial"/>
              </a:rPr>
              <a:t>INTRODUCTION</a:t>
            </a:r>
            <a:endParaRPr sz="2700" b="0" strike="noStrike">
              <a:latin typeface="Arial"/>
              <a:ea typeface="Arial"/>
              <a:cs typeface="Arial"/>
              <a:sym typeface="Arial"/>
            </a:endParaRPr>
          </a:p>
        </p:txBody>
      </p:sp>
      <p:sp>
        <p:nvSpPr>
          <p:cNvPr id="75" name="Google Shape;75;p15"/>
          <p:cNvSpPr txBox="1"/>
          <p:nvPr/>
        </p:nvSpPr>
        <p:spPr>
          <a:xfrm>
            <a:off x="457200" y="1354680"/>
            <a:ext cx="6400800" cy="3445920"/>
          </a:xfrm>
          <a:prstGeom prst="rect">
            <a:avLst/>
          </a:prstGeom>
          <a:noFill/>
          <a:ln>
            <a:noFill/>
          </a:ln>
        </p:spPr>
        <p:txBody>
          <a:bodyPr spcFirstLastPara="1" wrap="square" lIns="0" tIns="0" rIns="0" bIns="0" anchor="ctr" anchorCtr="0">
            <a:noAutofit/>
          </a:bodyPr>
          <a:lstStyle/>
          <a:p>
            <a:pPr marL="342900" marR="0" lvl="0" indent="-342900" rtl="0">
              <a:spcBef>
                <a:spcPts val="0"/>
              </a:spcBef>
              <a:spcAft>
                <a:spcPts val="0"/>
              </a:spcAft>
              <a:buClr>
                <a:srgbClr val="000000"/>
              </a:buClr>
              <a:buSzPts val="1600"/>
              <a:buFont typeface="+mj-lt"/>
              <a:buAutoNum type="arabicPeriod"/>
            </a:pPr>
            <a:r>
              <a:rPr lang="en-US" b="1" strike="noStrike" dirty="0">
                <a:latin typeface="+mj-lt"/>
                <a:ea typeface="Constantia"/>
                <a:cs typeface="Constantia"/>
                <a:sym typeface="Constantia"/>
              </a:rPr>
              <a:t>The 2008 global financial crisis that started in the U.S. in late 2007 has given a wide array of impacts to the operating and financial performance of many banks all over the World.</a:t>
            </a:r>
            <a:endParaRPr lang="en-US" dirty="0">
              <a:latin typeface="+mj-lt"/>
              <a:ea typeface="Constantia"/>
            </a:endParaRPr>
          </a:p>
          <a:p>
            <a:pPr marL="342900" marR="0" lvl="0" indent="-342900" rtl="0">
              <a:spcBef>
                <a:spcPts val="0"/>
              </a:spcBef>
              <a:spcAft>
                <a:spcPts val="0"/>
              </a:spcAft>
              <a:buClr>
                <a:srgbClr val="000000"/>
              </a:buClr>
              <a:buSzPts val="1600"/>
              <a:buFont typeface="+mj-lt"/>
              <a:buAutoNum type="arabicPeriod"/>
            </a:pPr>
            <a:r>
              <a:rPr lang="en-US" b="1" strike="noStrike" dirty="0">
                <a:latin typeface="+mj-lt"/>
                <a:ea typeface="Constantia"/>
                <a:cs typeface="Constantia"/>
                <a:sym typeface="Constantia"/>
              </a:rPr>
              <a:t>The impact of the crisis have even forced around 123 banks in the U.S. to file for bankruptcy in the </a:t>
            </a:r>
            <a:r>
              <a:rPr lang="en-US" b="1" strike="noStrike" dirty="0" err="1">
                <a:latin typeface="+mj-lt"/>
                <a:ea typeface="Constantia"/>
                <a:cs typeface="Constantia"/>
                <a:sym typeface="Constantia"/>
              </a:rPr>
              <a:t>year,including</a:t>
            </a:r>
            <a:r>
              <a:rPr lang="en-US" b="1" strike="noStrike" dirty="0">
                <a:latin typeface="+mj-lt"/>
                <a:ea typeface="Constantia"/>
                <a:cs typeface="Constantia"/>
                <a:sym typeface="Constantia"/>
              </a:rPr>
              <a:t> American giant bank Lehman Brother that was never been expected to fail.</a:t>
            </a:r>
            <a:endParaRPr lang="en-US" dirty="0">
              <a:latin typeface="+mj-lt"/>
              <a:ea typeface="Constantia"/>
            </a:endParaRPr>
          </a:p>
          <a:p>
            <a:pPr marL="342900" marR="0" lvl="0" indent="-342900" rtl="0">
              <a:spcBef>
                <a:spcPts val="0"/>
              </a:spcBef>
              <a:spcAft>
                <a:spcPts val="0"/>
              </a:spcAft>
              <a:buClr>
                <a:srgbClr val="000000"/>
              </a:buClr>
              <a:buSzPts val="1600"/>
              <a:buFont typeface="+mj-lt"/>
              <a:buAutoNum type="arabicPeriod"/>
            </a:pPr>
            <a:r>
              <a:rPr lang="en-US" b="1" strike="noStrike" dirty="0">
                <a:latin typeface="+mj-lt"/>
                <a:ea typeface="Constantia"/>
                <a:cs typeface="Constantia"/>
                <a:sym typeface="Constantia"/>
              </a:rPr>
              <a:t>As one of the </a:t>
            </a:r>
            <a:r>
              <a:rPr lang="en-US" b="1" strike="noStrike" dirty="0" err="1">
                <a:latin typeface="+mj-lt"/>
                <a:ea typeface="Constantia"/>
                <a:cs typeface="Constantia"/>
                <a:sym typeface="Constantia"/>
              </a:rPr>
              <a:t>results,the</a:t>
            </a:r>
            <a:r>
              <a:rPr lang="en-US" b="1" strike="noStrike" dirty="0">
                <a:latin typeface="+mj-lt"/>
                <a:ea typeface="Constantia"/>
                <a:cs typeface="Constantia"/>
                <a:sym typeface="Constantia"/>
              </a:rPr>
              <a:t> financial crisis has raised public’s interest on Islamic banks since they are said to be relatively much less affected by the crisis.</a:t>
            </a:r>
            <a:endParaRPr lang="en-US" dirty="0">
              <a:latin typeface="+mj-lt"/>
              <a:ea typeface="Constantia"/>
            </a:endParaRPr>
          </a:p>
          <a:p>
            <a:pPr marL="342900" marR="0" lvl="0" indent="-342900" rtl="0">
              <a:spcBef>
                <a:spcPts val="0"/>
              </a:spcBef>
              <a:spcAft>
                <a:spcPts val="0"/>
              </a:spcAft>
              <a:buClr>
                <a:srgbClr val="000000"/>
              </a:buClr>
              <a:buSzPts val="1600"/>
              <a:buFont typeface="+mj-lt"/>
              <a:buAutoNum type="arabicPeriod"/>
            </a:pPr>
            <a:r>
              <a:rPr lang="en-US" b="1" strike="noStrike" dirty="0">
                <a:latin typeface="+mj-lt"/>
                <a:ea typeface="Constantia"/>
                <a:cs typeface="Constantia"/>
                <a:sym typeface="Constantia"/>
              </a:rPr>
              <a:t>A number of experts and officials of Islamic banks have even claimed that Islamic banks are either not or less affected by the global financial crisis then conventional peers due to the nature of Islamic banking in which all financial transactions must be trade-based and asset-linked.</a:t>
            </a:r>
            <a:endParaRPr b="0" strike="noStrike" dirty="0">
              <a:latin typeface="+mj-lt"/>
              <a:ea typeface="Arial"/>
              <a:cs typeface="Arial"/>
              <a:sym typeface="Arial"/>
            </a:endParaRPr>
          </a:p>
        </p:txBody>
      </p:sp>
      <p:pic>
        <p:nvPicPr>
          <p:cNvPr id="76" name="Google Shape;76;p15"/>
          <p:cNvPicPr preferRelativeResize="0"/>
          <p:nvPr/>
        </p:nvPicPr>
        <p:blipFill rotWithShape="1">
          <a:blip r:embed="rId3">
            <a:alphaModFix/>
          </a:blip>
          <a:srcRect/>
          <a:stretch/>
        </p:blipFill>
        <p:spPr>
          <a:xfrm>
            <a:off x="7086600" y="2057400"/>
            <a:ext cx="2514600" cy="15541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p:nvPr/>
        </p:nvSpPr>
        <p:spPr>
          <a:xfrm>
            <a:off x="540000" y="450000"/>
            <a:ext cx="8640000" cy="63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700" b="1" strike="noStrike">
                <a:latin typeface="Arial"/>
                <a:ea typeface="Arial"/>
                <a:cs typeface="Arial"/>
                <a:sym typeface="Arial"/>
              </a:rPr>
              <a:t>LITERATURE REVIEW</a:t>
            </a:r>
            <a:endParaRPr sz="2700" b="0" strike="noStrike">
              <a:latin typeface="Arial"/>
              <a:ea typeface="Arial"/>
              <a:cs typeface="Arial"/>
              <a:sym typeface="Arial"/>
            </a:endParaRPr>
          </a:p>
        </p:txBody>
      </p:sp>
      <p:sp>
        <p:nvSpPr>
          <p:cNvPr id="82" name="Google Shape;82;p16"/>
          <p:cNvSpPr txBox="1"/>
          <p:nvPr/>
        </p:nvSpPr>
        <p:spPr>
          <a:xfrm>
            <a:off x="914400" y="1254240"/>
            <a:ext cx="2514600" cy="57456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1600" b="1" strike="noStrike">
                <a:latin typeface="Tahoma"/>
                <a:ea typeface="Tahoma"/>
                <a:cs typeface="Tahoma"/>
                <a:sym typeface="Tahoma"/>
              </a:rPr>
              <a:t>The Key Economic         Indicators:-</a:t>
            </a:r>
            <a:r>
              <a:rPr lang="en-US" sz="1300" b="1" strike="noStrike">
                <a:latin typeface="Tahoma"/>
                <a:ea typeface="Tahoma"/>
                <a:cs typeface="Tahoma"/>
                <a:sym typeface="Tahoma"/>
              </a:rPr>
              <a:t> </a:t>
            </a:r>
            <a:endParaRPr sz="1300" b="0" strike="noStrike">
              <a:latin typeface="Arial"/>
              <a:ea typeface="Arial"/>
              <a:cs typeface="Arial"/>
              <a:sym typeface="Arial"/>
            </a:endParaRPr>
          </a:p>
        </p:txBody>
      </p:sp>
      <p:sp>
        <p:nvSpPr>
          <p:cNvPr id="83" name="Google Shape;83;p16"/>
          <p:cNvSpPr txBox="1"/>
          <p:nvPr/>
        </p:nvSpPr>
        <p:spPr>
          <a:xfrm>
            <a:off x="457200" y="1828800"/>
            <a:ext cx="4343400" cy="228600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1400" b="1" strike="noStrike">
                <a:latin typeface="Alef"/>
                <a:ea typeface="Alef"/>
                <a:cs typeface="Alef"/>
                <a:sym typeface="Alef"/>
              </a:rPr>
              <a:t>GDP (Current) US$21.9 billion </a:t>
            </a:r>
            <a:endParaRPr sz="1400" b="0" strike="noStrike">
              <a:latin typeface="Arial"/>
              <a:ea typeface="Arial"/>
              <a:cs typeface="Arial"/>
              <a:sym typeface="Arial"/>
            </a:endParaRPr>
          </a:p>
          <a:p>
            <a:pPr marL="0" marR="0" lvl="0" indent="0" algn="l" rtl="0">
              <a:spcBef>
                <a:spcPts val="0"/>
              </a:spcBef>
              <a:spcAft>
                <a:spcPts val="0"/>
              </a:spcAft>
              <a:buNone/>
            </a:pPr>
            <a:r>
              <a:rPr lang="en-US" sz="1400" b="1" strike="noStrike">
                <a:latin typeface="Alef"/>
                <a:ea typeface="Alef"/>
                <a:cs typeface="Alef"/>
                <a:sym typeface="Alef"/>
              </a:rPr>
              <a:t>Growth -13.5% </a:t>
            </a:r>
            <a:endParaRPr sz="1400" b="0" strike="noStrike">
              <a:latin typeface="Arial"/>
              <a:ea typeface="Arial"/>
              <a:cs typeface="Arial"/>
              <a:sym typeface="Arial"/>
            </a:endParaRPr>
          </a:p>
          <a:p>
            <a:pPr marL="0" marR="0" lvl="0" indent="0" algn="l" rtl="0">
              <a:spcBef>
                <a:spcPts val="0"/>
              </a:spcBef>
              <a:spcAft>
                <a:spcPts val="0"/>
              </a:spcAft>
              <a:buNone/>
            </a:pPr>
            <a:r>
              <a:rPr lang="en-US" sz="1400" b="1" strike="noStrike">
                <a:latin typeface="Alef"/>
                <a:ea typeface="Alef"/>
                <a:cs typeface="Alef"/>
                <a:sym typeface="Alef"/>
              </a:rPr>
              <a:t>GDP (Constant) </a:t>
            </a:r>
            <a:endParaRPr sz="1400" b="0" strike="noStrike">
              <a:latin typeface="Arial"/>
              <a:ea typeface="Arial"/>
              <a:cs typeface="Arial"/>
              <a:sym typeface="Arial"/>
            </a:endParaRPr>
          </a:p>
          <a:p>
            <a:pPr marL="0" marR="0" lvl="0" indent="0" algn="l" rtl="0">
              <a:spcBef>
                <a:spcPts val="0"/>
              </a:spcBef>
              <a:spcAft>
                <a:spcPts val="0"/>
              </a:spcAft>
              <a:buNone/>
            </a:pPr>
            <a:r>
              <a:rPr lang="en-US" sz="1400" b="1" strike="noStrike">
                <a:latin typeface="Alef"/>
                <a:ea typeface="Alef"/>
                <a:cs typeface="Alef"/>
                <a:sym typeface="Alef"/>
              </a:rPr>
              <a:t>Growth 4.6% </a:t>
            </a:r>
            <a:endParaRPr sz="1400" b="0" strike="noStrike">
              <a:latin typeface="Arial"/>
              <a:ea typeface="Arial"/>
              <a:cs typeface="Arial"/>
              <a:sym typeface="Arial"/>
            </a:endParaRPr>
          </a:p>
          <a:p>
            <a:pPr marL="0" marR="0" lvl="0" indent="0" algn="l" rtl="0">
              <a:spcBef>
                <a:spcPts val="0"/>
              </a:spcBef>
              <a:spcAft>
                <a:spcPts val="0"/>
              </a:spcAft>
              <a:buNone/>
            </a:pPr>
            <a:r>
              <a:rPr lang="en-US" sz="1400" b="1" strike="noStrike">
                <a:latin typeface="Alef"/>
                <a:ea typeface="Alef"/>
                <a:cs typeface="Alef"/>
                <a:sym typeface="Alef"/>
              </a:rPr>
              <a:t>Financial Sector contribution to GDP 25% </a:t>
            </a:r>
            <a:endParaRPr sz="1400" b="0" strike="noStrike">
              <a:latin typeface="Arial"/>
              <a:ea typeface="Arial"/>
              <a:cs typeface="Arial"/>
              <a:sym typeface="Arial"/>
            </a:endParaRPr>
          </a:p>
          <a:p>
            <a:pPr marL="0" marR="0" lvl="0" indent="0" algn="l" rtl="0">
              <a:spcBef>
                <a:spcPts val="0"/>
              </a:spcBef>
              <a:spcAft>
                <a:spcPts val="0"/>
              </a:spcAft>
              <a:buNone/>
            </a:pPr>
            <a:r>
              <a:rPr lang="en-US" sz="1400" b="1" strike="noStrike">
                <a:latin typeface="Alef"/>
                <a:ea typeface="Alef"/>
                <a:cs typeface="Alef"/>
                <a:sym typeface="Alef"/>
              </a:rPr>
              <a:t>Sovereign rating : </a:t>
            </a:r>
            <a:endParaRPr sz="1400" b="0" strike="noStrike">
              <a:latin typeface="Arial"/>
              <a:ea typeface="Arial"/>
              <a:cs typeface="Arial"/>
              <a:sym typeface="Arial"/>
            </a:endParaRPr>
          </a:p>
          <a:p>
            <a:pPr marL="0" marR="0" lvl="0" indent="0" algn="l" rtl="0">
              <a:spcBef>
                <a:spcPts val="0"/>
              </a:spcBef>
              <a:spcAft>
                <a:spcPts val="0"/>
              </a:spcAft>
              <a:buNone/>
            </a:pPr>
            <a:r>
              <a:rPr lang="en-US" sz="1400" b="1" strike="noStrike">
                <a:latin typeface="Alef"/>
                <a:ea typeface="Alef"/>
                <a:cs typeface="Alef"/>
                <a:sym typeface="Alef"/>
              </a:rPr>
              <a:t>BBB (S&amp;P Dec 2010) with negative watch </a:t>
            </a:r>
            <a:endParaRPr sz="1400" b="0" strike="noStrike">
              <a:latin typeface="Arial"/>
              <a:ea typeface="Arial"/>
              <a:cs typeface="Arial"/>
              <a:sym typeface="Arial"/>
            </a:endParaRPr>
          </a:p>
          <a:p>
            <a:pPr marL="0" marR="0" lvl="0" indent="0" algn="l" rtl="0">
              <a:spcBef>
                <a:spcPts val="0"/>
              </a:spcBef>
              <a:spcAft>
                <a:spcPts val="0"/>
              </a:spcAft>
              <a:buNone/>
            </a:pPr>
            <a:r>
              <a:rPr lang="en-US" sz="1400" b="1" strike="noStrike">
                <a:latin typeface="Alef"/>
                <a:ea typeface="Alef"/>
                <a:cs typeface="Alef"/>
                <a:sym typeface="Alef"/>
              </a:rPr>
              <a:t>BBB (Fitch Dec 2010) with negative outlook </a:t>
            </a:r>
            <a:endParaRPr sz="1400" b="0" strike="noStrike">
              <a:latin typeface="Arial"/>
              <a:ea typeface="Arial"/>
              <a:cs typeface="Arial"/>
              <a:sym typeface="Arial"/>
            </a:endParaRPr>
          </a:p>
          <a:p>
            <a:pPr marL="0" marR="0" lvl="0" indent="0" algn="l" rtl="0">
              <a:spcBef>
                <a:spcPts val="0"/>
              </a:spcBef>
              <a:spcAft>
                <a:spcPts val="0"/>
              </a:spcAft>
              <a:buNone/>
            </a:pPr>
            <a:r>
              <a:rPr lang="en-US" sz="1400" b="1" strike="noStrike">
                <a:latin typeface="Alef"/>
                <a:ea typeface="Alef"/>
                <a:cs typeface="Alef"/>
                <a:sym typeface="Alef"/>
              </a:rPr>
              <a:t>Population 1,106,509 (2008)</a:t>
            </a:r>
            <a:endParaRPr sz="1400" b="0" strike="noStrike">
              <a:latin typeface="Arial"/>
              <a:ea typeface="Arial"/>
              <a:cs typeface="Arial"/>
              <a:sym typeface="Arial"/>
            </a:endParaRPr>
          </a:p>
        </p:txBody>
      </p:sp>
      <p:sp>
        <p:nvSpPr>
          <p:cNvPr id="84" name="Google Shape;84;p16"/>
          <p:cNvSpPr txBox="1"/>
          <p:nvPr/>
        </p:nvSpPr>
        <p:spPr>
          <a:xfrm>
            <a:off x="5486400" y="1828800"/>
            <a:ext cx="3657600" cy="320040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1300" b="1" strike="noStrike">
                <a:latin typeface="Arial"/>
                <a:ea typeface="Arial"/>
                <a:cs typeface="Arial"/>
                <a:sym typeface="Arial"/>
              </a:rPr>
              <a:t>Assets US$197.5 billion (May 2011)</a:t>
            </a:r>
            <a:endParaRPr sz="1300" b="0" strike="noStrike">
              <a:latin typeface="Arial"/>
              <a:ea typeface="Arial"/>
              <a:cs typeface="Arial"/>
              <a:sym typeface="Arial"/>
            </a:endParaRPr>
          </a:p>
          <a:p>
            <a:pPr marL="0" marR="0" lvl="0" indent="0" algn="l" rtl="0">
              <a:spcBef>
                <a:spcPts val="0"/>
              </a:spcBef>
              <a:spcAft>
                <a:spcPts val="0"/>
              </a:spcAft>
              <a:buNone/>
            </a:pPr>
            <a:r>
              <a:rPr lang="en-US" sz="1300" b="1" strike="noStrike">
                <a:latin typeface="Arial"/>
                <a:ea typeface="Arial"/>
                <a:cs typeface="Arial"/>
                <a:sym typeface="Arial"/>
              </a:rPr>
              <a:t>No. of institutions 134 (May 2011)</a:t>
            </a:r>
            <a:endParaRPr sz="1300" b="0" strike="noStrike">
              <a:latin typeface="Arial"/>
              <a:ea typeface="Arial"/>
              <a:cs typeface="Arial"/>
              <a:sym typeface="Arial"/>
            </a:endParaRPr>
          </a:p>
          <a:p>
            <a:pPr marL="0" marR="0" lvl="0" indent="0" algn="l" rtl="0">
              <a:spcBef>
                <a:spcPts val="0"/>
              </a:spcBef>
              <a:spcAft>
                <a:spcPts val="0"/>
              </a:spcAft>
              <a:buNone/>
            </a:pPr>
            <a:r>
              <a:rPr lang="en-US" sz="1300" b="1" strike="noStrike">
                <a:latin typeface="Arial"/>
                <a:ea typeface="Arial"/>
                <a:cs typeface="Arial"/>
                <a:sym typeface="Arial"/>
              </a:rPr>
              <a:t>Retail banks 30</a:t>
            </a:r>
            <a:endParaRPr sz="1300" b="0" strike="noStrike">
              <a:latin typeface="Arial"/>
              <a:ea typeface="Arial"/>
              <a:cs typeface="Arial"/>
              <a:sym typeface="Arial"/>
            </a:endParaRPr>
          </a:p>
          <a:p>
            <a:pPr marL="0" marR="0" lvl="0" indent="0" algn="l" rtl="0">
              <a:spcBef>
                <a:spcPts val="0"/>
              </a:spcBef>
              <a:spcAft>
                <a:spcPts val="0"/>
              </a:spcAft>
              <a:buNone/>
            </a:pPr>
            <a:r>
              <a:rPr lang="en-US" sz="1300" b="1" strike="noStrike">
                <a:latin typeface="Arial"/>
                <a:ea typeface="Arial"/>
                <a:cs typeface="Arial"/>
                <a:sym typeface="Arial"/>
              </a:rPr>
              <a:t>Locally incorporated 15</a:t>
            </a:r>
            <a:endParaRPr sz="1300" b="0" strike="noStrike">
              <a:latin typeface="Arial"/>
              <a:ea typeface="Arial"/>
              <a:cs typeface="Arial"/>
              <a:sym typeface="Arial"/>
            </a:endParaRPr>
          </a:p>
          <a:p>
            <a:pPr marL="0" marR="0" lvl="0" indent="0" algn="l" rtl="0">
              <a:spcBef>
                <a:spcPts val="0"/>
              </a:spcBef>
              <a:spcAft>
                <a:spcPts val="0"/>
              </a:spcAft>
              <a:buNone/>
            </a:pPr>
            <a:r>
              <a:rPr lang="en-US" sz="1300" b="1" strike="noStrike">
                <a:latin typeface="Arial"/>
                <a:ea typeface="Arial"/>
                <a:cs typeface="Arial"/>
                <a:sym typeface="Arial"/>
              </a:rPr>
              <a:t>Branches of foreign banks 15</a:t>
            </a:r>
            <a:endParaRPr sz="1300" b="0" strike="noStrike">
              <a:latin typeface="Arial"/>
              <a:ea typeface="Arial"/>
              <a:cs typeface="Arial"/>
              <a:sym typeface="Arial"/>
            </a:endParaRPr>
          </a:p>
          <a:p>
            <a:pPr marL="0" marR="0" lvl="0" indent="0" algn="l" rtl="0">
              <a:spcBef>
                <a:spcPts val="0"/>
              </a:spcBef>
              <a:spcAft>
                <a:spcPts val="0"/>
              </a:spcAft>
              <a:buNone/>
            </a:pPr>
            <a:r>
              <a:rPr lang="en-US" sz="1300" b="1" strike="noStrike">
                <a:latin typeface="Arial"/>
                <a:ea typeface="Arial"/>
                <a:cs typeface="Arial"/>
                <a:sym typeface="Arial"/>
              </a:rPr>
              <a:t>Wholesale banks 77</a:t>
            </a:r>
            <a:endParaRPr sz="1300" b="0" strike="noStrike">
              <a:latin typeface="Arial"/>
              <a:ea typeface="Arial"/>
              <a:cs typeface="Arial"/>
              <a:sym typeface="Arial"/>
            </a:endParaRPr>
          </a:p>
          <a:p>
            <a:pPr marL="0" marR="0" lvl="0" indent="0" algn="l" rtl="0">
              <a:spcBef>
                <a:spcPts val="0"/>
              </a:spcBef>
              <a:spcAft>
                <a:spcPts val="0"/>
              </a:spcAft>
              <a:buNone/>
            </a:pPr>
            <a:r>
              <a:rPr lang="en-US" sz="1300" b="1" strike="noStrike">
                <a:latin typeface="Arial"/>
                <a:ea typeface="Arial"/>
                <a:cs typeface="Arial"/>
                <a:sym typeface="Arial"/>
              </a:rPr>
              <a:t>Representative Offices 27</a:t>
            </a:r>
            <a:endParaRPr sz="1300" b="0" strike="noStrike">
              <a:latin typeface="Arial"/>
              <a:ea typeface="Arial"/>
              <a:cs typeface="Arial"/>
              <a:sym typeface="Arial"/>
            </a:endParaRPr>
          </a:p>
          <a:p>
            <a:pPr marL="0" marR="0" lvl="0" indent="0" algn="l" rtl="0">
              <a:spcBef>
                <a:spcPts val="0"/>
              </a:spcBef>
              <a:spcAft>
                <a:spcPts val="0"/>
              </a:spcAft>
              <a:buNone/>
            </a:pPr>
            <a:r>
              <a:rPr lang="en-US" sz="1300" b="1" strike="noStrike">
                <a:latin typeface="Arial"/>
                <a:ea typeface="Arial"/>
                <a:cs typeface="Arial"/>
                <a:sym typeface="Arial"/>
              </a:rPr>
              <a:t>Islamic Banks (included in above):</a:t>
            </a:r>
            <a:endParaRPr sz="1300" b="0" strike="noStrike">
              <a:latin typeface="Arial"/>
              <a:ea typeface="Arial"/>
              <a:cs typeface="Arial"/>
              <a:sym typeface="Arial"/>
            </a:endParaRPr>
          </a:p>
          <a:p>
            <a:pPr marL="0" marR="0" lvl="0" indent="0" algn="l" rtl="0">
              <a:spcBef>
                <a:spcPts val="0"/>
              </a:spcBef>
              <a:spcAft>
                <a:spcPts val="0"/>
              </a:spcAft>
              <a:buNone/>
            </a:pPr>
            <a:r>
              <a:rPr lang="en-US" sz="1300" b="1" strike="noStrike">
                <a:latin typeface="Arial"/>
                <a:ea typeface="Arial"/>
                <a:cs typeface="Arial"/>
                <a:sym typeface="Arial"/>
              </a:rPr>
              <a:t>No. of banks 27 (May 2011)</a:t>
            </a:r>
            <a:endParaRPr sz="1300" b="0" strike="noStrike">
              <a:latin typeface="Arial"/>
              <a:ea typeface="Arial"/>
              <a:cs typeface="Arial"/>
              <a:sym typeface="Arial"/>
            </a:endParaRPr>
          </a:p>
          <a:p>
            <a:pPr marL="0" marR="0" lvl="0" indent="0" algn="l" rtl="0">
              <a:spcBef>
                <a:spcPts val="0"/>
              </a:spcBef>
              <a:spcAft>
                <a:spcPts val="0"/>
              </a:spcAft>
              <a:buNone/>
            </a:pPr>
            <a:r>
              <a:rPr lang="en-US" sz="1300" b="1" strike="noStrike">
                <a:latin typeface="Arial"/>
                <a:ea typeface="Arial"/>
                <a:cs typeface="Arial"/>
                <a:sym typeface="Arial"/>
              </a:rPr>
              <a:t>Assets US$24.5 billion </a:t>
            </a:r>
            <a:endParaRPr sz="1300" b="0" strike="noStrike">
              <a:latin typeface="Arial"/>
              <a:ea typeface="Arial"/>
              <a:cs typeface="Arial"/>
              <a:sym typeface="Arial"/>
            </a:endParaRPr>
          </a:p>
        </p:txBody>
      </p:sp>
      <p:sp>
        <p:nvSpPr>
          <p:cNvPr id="85" name="Google Shape;85;p16"/>
          <p:cNvSpPr txBox="1"/>
          <p:nvPr/>
        </p:nvSpPr>
        <p:spPr>
          <a:xfrm>
            <a:off x="5486400" y="1482840"/>
            <a:ext cx="2286000" cy="34596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1600" b="1" strike="noStrike">
                <a:latin typeface="Tahoma"/>
                <a:ea typeface="Tahoma"/>
                <a:cs typeface="Tahoma"/>
                <a:sym typeface="Tahoma"/>
              </a:rPr>
              <a:t>Banking </a:t>
            </a:r>
            <a:r>
              <a:rPr lang="en-US" sz="1800" b="1" strike="noStrike">
                <a:latin typeface="Tahoma"/>
                <a:ea typeface="Tahoma"/>
                <a:cs typeface="Tahoma"/>
                <a:sym typeface="Tahoma"/>
              </a:rPr>
              <a:t>Sector</a:t>
            </a:r>
            <a:r>
              <a:rPr lang="en-US" sz="1600" b="1" strike="noStrike">
                <a:latin typeface="Tahoma"/>
                <a:ea typeface="Tahoma"/>
                <a:cs typeface="Tahoma"/>
                <a:sym typeface="Tahoma"/>
              </a:rPr>
              <a:t>:-</a:t>
            </a:r>
            <a:r>
              <a:rPr lang="en-US" sz="1600" b="0" strike="noStrike">
                <a:latin typeface="Arial"/>
                <a:ea typeface="Arial"/>
                <a:cs typeface="Arial"/>
                <a:sym typeface="Arial"/>
              </a:rPr>
              <a:t> </a:t>
            </a:r>
            <a:endParaRPr sz="1600" b="0" strike="noStrike">
              <a:latin typeface="Arial"/>
              <a:ea typeface="Arial"/>
              <a:cs typeface="Arial"/>
              <a:sym typeface="Arial"/>
            </a:endParaRPr>
          </a:p>
        </p:txBody>
      </p:sp>
      <p:cxnSp>
        <p:nvCxnSpPr>
          <p:cNvPr id="86" name="Google Shape;86;p16"/>
          <p:cNvCxnSpPr/>
          <p:nvPr/>
        </p:nvCxnSpPr>
        <p:spPr>
          <a:xfrm>
            <a:off x="457200" y="1828800"/>
            <a:ext cx="8458200" cy="0"/>
          </a:xfrm>
          <a:prstGeom prst="straightConnector1">
            <a:avLst/>
          </a:prstGeom>
          <a:noFill/>
          <a:ln w="57225" cap="flat" cmpd="sng">
            <a:solidFill>
              <a:srgbClr val="000000"/>
            </a:solidFill>
            <a:prstDash val="solid"/>
            <a:round/>
            <a:headEnd type="none" w="sm" len="sm"/>
            <a:tailEnd type="none" w="sm" len="sm"/>
          </a:ln>
        </p:spPr>
      </p:cxnSp>
      <p:cxnSp>
        <p:nvCxnSpPr>
          <p:cNvPr id="87" name="Google Shape;87;p16"/>
          <p:cNvCxnSpPr/>
          <p:nvPr/>
        </p:nvCxnSpPr>
        <p:spPr>
          <a:xfrm>
            <a:off x="4800600" y="1143000"/>
            <a:ext cx="0" cy="3886200"/>
          </a:xfrm>
          <a:prstGeom prst="straightConnector1">
            <a:avLst/>
          </a:prstGeom>
          <a:noFill/>
          <a:ln w="57225" cap="flat" cmpd="sng">
            <a:solidFill>
              <a:srgbClr val="000000"/>
            </a:solidFill>
            <a:prstDash val="solid"/>
            <a:round/>
            <a:headEnd type="none" w="sm" len="sm"/>
            <a:tailEnd type="none" w="sm" len="sm"/>
          </a:ln>
        </p:spPr>
      </p:cxnSp>
      <p:cxnSp>
        <p:nvCxnSpPr>
          <p:cNvPr id="88" name="Google Shape;88;p16"/>
          <p:cNvCxnSpPr/>
          <p:nvPr/>
        </p:nvCxnSpPr>
        <p:spPr>
          <a:xfrm>
            <a:off x="457200" y="1143000"/>
            <a:ext cx="0" cy="3886200"/>
          </a:xfrm>
          <a:prstGeom prst="straightConnector1">
            <a:avLst/>
          </a:prstGeom>
          <a:noFill/>
          <a:ln w="57225" cap="flat" cmpd="sng">
            <a:solidFill>
              <a:srgbClr val="000000"/>
            </a:solidFill>
            <a:prstDash val="solid"/>
            <a:round/>
            <a:headEnd type="none" w="sm" len="sm"/>
            <a:tailEnd type="none" w="sm" len="sm"/>
          </a:ln>
        </p:spPr>
      </p:cxnSp>
      <p:cxnSp>
        <p:nvCxnSpPr>
          <p:cNvPr id="89" name="Google Shape;89;p16"/>
          <p:cNvCxnSpPr/>
          <p:nvPr/>
        </p:nvCxnSpPr>
        <p:spPr>
          <a:xfrm>
            <a:off x="457200" y="1143000"/>
            <a:ext cx="8458200" cy="0"/>
          </a:xfrm>
          <a:prstGeom prst="straightConnector1">
            <a:avLst/>
          </a:prstGeom>
          <a:noFill/>
          <a:ln w="57225" cap="flat" cmpd="sng">
            <a:solidFill>
              <a:srgbClr val="000000"/>
            </a:solidFill>
            <a:prstDash val="solid"/>
            <a:round/>
            <a:headEnd type="none" w="sm" len="sm"/>
            <a:tailEnd type="none" w="sm" len="sm"/>
          </a:ln>
        </p:spPr>
      </p:cxnSp>
      <p:cxnSp>
        <p:nvCxnSpPr>
          <p:cNvPr id="90" name="Google Shape;90;p16"/>
          <p:cNvCxnSpPr/>
          <p:nvPr/>
        </p:nvCxnSpPr>
        <p:spPr>
          <a:xfrm>
            <a:off x="8915400" y="1143000"/>
            <a:ext cx="0" cy="3886200"/>
          </a:xfrm>
          <a:prstGeom prst="straightConnector1">
            <a:avLst/>
          </a:prstGeom>
          <a:noFill/>
          <a:ln w="57225" cap="flat" cmpd="sng">
            <a:solidFill>
              <a:srgbClr val="000000"/>
            </a:solidFill>
            <a:prstDash val="solid"/>
            <a:round/>
            <a:headEnd type="none" w="sm" len="sm"/>
            <a:tailEnd type="none" w="sm" len="sm"/>
          </a:ln>
        </p:spPr>
      </p:cxnSp>
      <p:cxnSp>
        <p:nvCxnSpPr>
          <p:cNvPr id="91" name="Google Shape;91;p16"/>
          <p:cNvCxnSpPr/>
          <p:nvPr/>
        </p:nvCxnSpPr>
        <p:spPr>
          <a:xfrm>
            <a:off x="457200" y="5029200"/>
            <a:ext cx="8458200" cy="0"/>
          </a:xfrm>
          <a:prstGeom prst="straightConnector1">
            <a:avLst/>
          </a:prstGeom>
          <a:noFill/>
          <a:ln w="57225" cap="flat" cmpd="sng">
            <a:solidFill>
              <a:srgbClr val="000000"/>
            </a:solidFill>
            <a:prstDash val="solid"/>
            <a:round/>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7"/>
          <p:cNvSpPr txBox="1"/>
          <p:nvPr/>
        </p:nvSpPr>
        <p:spPr>
          <a:xfrm>
            <a:off x="540000" y="450000"/>
            <a:ext cx="8640000" cy="63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700" b="1" strike="noStrike">
                <a:latin typeface="Arial"/>
                <a:ea typeface="Arial"/>
                <a:cs typeface="Arial"/>
                <a:sym typeface="Arial"/>
              </a:rPr>
              <a:t>DATA AND METHOD,ANALYSIS OF DATA</a:t>
            </a:r>
            <a:endParaRPr sz="2700" b="0" strike="noStrike">
              <a:latin typeface="Arial"/>
              <a:ea typeface="Arial"/>
              <a:cs typeface="Arial"/>
              <a:sym typeface="Arial"/>
            </a:endParaRPr>
          </a:p>
        </p:txBody>
      </p:sp>
      <p:sp>
        <p:nvSpPr>
          <p:cNvPr id="97" name="Google Shape;97;p17"/>
          <p:cNvSpPr txBox="1"/>
          <p:nvPr/>
        </p:nvSpPr>
        <p:spPr>
          <a:xfrm>
            <a:off x="457200" y="1143000"/>
            <a:ext cx="5486400" cy="342900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2000" b="1" strike="noStrike">
                <a:latin typeface="Tahoma"/>
                <a:ea typeface="Tahoma"/>
                <a:cs typeface="Tahoma"/>
                <a:sym typeface="Tahoma"/>
              </a:rPr>
              <a:t>Based on the data available in Bankscope Bureu van Dijk database, in 2011, there are 14 conventional banks and 23 Islamic banks in Bahrain. However, only 8 Islamic banks had completely reported financial statements from</a:t>
            </a:r>
            <a:endParaRPr sz="2000" b="0" strike="noStrike">
              <a:latin typeface="Arial"/>
              <a:ea typeface="Arial"/>
              <a:cs typeface="Arial"/>
              <a:sym typeface="Arial"/>
            </a:endParaRPr>
          </a:p>
          <a:p>
            <a:pPr marL="0" marR="0" lvl="0" indent="0" algn="l" rtl="0">
              <a:spcBef>
                <a:spcPts val="0"/>
              </a:spcBef>
              <a:spcAft>
                <a:spcPts val="0"/>
              </a:spcAft>
              <a:buNone/>
            </a:pPr>
            <a:r>
              <a:rPr lang="en-US" sz="2000" b="1" strike="noStrike">
                <a:latin typeface="Tahoma"/>
                <a:ea typeface="Tahoma"/>
                <a:cs typeface="Tahoma"/>
                <a:sym typeface="Tahoma"/>
              </a:rPr>
              <a:t>2005-2010 periods. Therefore, this study uses the available data as samples in order to investigate the impacts of the financial crisis upon the financial performance of Islamic banking in Bahrain.</a:t>
            </a:r>
            <a:endParaRPr sz="2000" b="0" strike="noStrike">
              <a:latin typeface="Arial"/>
              <a:ea typeface="Arial"/>
              <a:cs typeface="Arial"/>
              <a:sym typeface="Arial"/>
            </a:endParaRPr>
          </a:p>
          <a:p>
            <a:pPr marL="0" marR="0" lvl="0" indent="0" algn="l" rtl="0">
              <a:spcBef>
                <a:spcPts val="0"/>
              </a:spcBef>
              <a:spcAft>
                <a:spcPts val="0"/>
              </a:spcAft>
              <a:buNone/>
            </a:pPr>
            <a:endParaRPr sz="2000" b="0" strike="noStrike">
              <a:latin typeface="Arial"/>
              <a:ea typeface="Arial"/>
              <a:cs typeface="Arial"/>
              <a:sym typeface="Arial"/>
            </a:endParaRPr>
          </a:p>
        </p:txBody>
      </p:sp>
      <p:pic>
        <p:nvPicPr>
          <p:cNvPr id="98" name="Google Shape;98;p17"/>
          <p:cNvPicPr preferRelativeResize="0"/>
          <p:nvPr/>
        </p:nvPicPr>
        <p:blipFill rotWithShape="1">
          <a:blip r:embed="rId3">
            <a:alphaModFix/>
          </a:blip>
          <a:srcRect/>
          <a:stretch/>
        </p:blipFill>
        <p:spPr>
          <a:xfrm>
            <a:off x="6172200" y="1828800"/>
            <a:ext cx="3200400" cy="1828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graphicFrame>
        <p:nvGraphicFramePr>
          <p:cNvPr id="103" name="Google Shape;103;p18"/>
          <p:cNvGraphicFramePr/>
          <p:nvPr>
            <p:extLst>
              <p:ext uri="{D42A27DB-BD31-4B8C-83A1-F6EECF244321}">
                <p14:modId xmlns:p14="http://schemas.microsoft.com/office/powerpoint/2010/main" val="460010964"/>
              </p:ext>
            </p:extLst>
          </p:nvPr>
        </p:nvGraphicFramePr>
        <p:xfrm>
          <a:off x="345847" y="813581"/>
          <a:ext cx="9388929" cy="4215623"/>
        </p:xfrm>
        <a:graphic>
          <a:graphicData uri="http://schemas.openxmlformats.org/drawingml/2006/table">
            <a:tbl>
              <a:tblPr>
                <a:noFill/>
                <a:tableStyleId>{0D8B5D91-69DD-4FBD-BEE7-8DBDDD7CB514}</a:tableStyleId>
              </a:tblPr>
              <a:tblGrid>
                <a:gridCol w="1554411">
                  <a:extLst>
                    <a:ext uri="{9D8B030D-6E8A-4147-A177-3AD203B41FA5}">
                      <a16:colId xmlns:a16="http://schemas.microsoft.com/office/drawing/2014/main" val="20000"/>
                    </a:ext>
                  </a:extLst>
                </a:gridCol>
                <a:gridCol w="6799487">
                  <a:extLst>
                    <a:ext uri="{9D8B030D-6E8A-4147-A177-3AD203B41FA5}">
                      <a16:colId xmlns:a16="http://schemas.microsoft.com/office/drawing/2014/main" val="20001"/>
                    </a:ext>
                  </a:extLst>
                </a:gridCol>
                <a:gridCol w="1035031">
                  <a:extLst>
                    <a:ext uri="{9D8B030D-6E8A-4147-A177-3AD203B41FA5}">
                      <a16:colId xmlns:a16="http://schemas.microsoft.com/office/drawing/2014/main" val="20002"/>
                    </a:ext>
                  </a:extLst>
                </a:gridCol>
              </a:tblGrid>
              <a:tr h="1017526">
                <a:tc>
                  <a:txBody>
                    <a:bodyPr/>
                    <a:lstStyle/>
                    <a:p>
                      <a:pPr marL="0" marR="0" lvl="0" indent="0" algn="l" rtl="0">
                        <a:spcBef>
                          <a:spcPts val="0"/>
                        </a:spcBef>
                        <a:spcAft>
                          <a:spcPts val="0"/>
                        </a:spcAft>
                        <a:buNone/>
                      </a:pPr>
                      <a:r>
                        <a:rPr lang="en-US" sz="1000" b="0" u="none" strike="noStrike" cap="none" dirty="0">
                          <a:latin typeface="+mj-lt"/>
                          <a:ea typeface="Arial"/>
                          <a:cs typeface="Arial"/>
                          <a:sym typeface="Arial"/>
                        </a:rPr>
                        <a:t>   Variables</a:t>
                      </a:r>
                      <a:endParaRPr sz="1000" b="0" strike="noStrike" dirty="0">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6633"/>
                    </a:solidFill>
                  </a:tcPr>
                </a:tc>
                <a:tc>
                  <a:txBody>
                    <a:bodyPr/>
                    <a:lstStyle/>
                    <a:p>
                      <a:pPr marL="0" marR="0" lvl="0" indent="0" algn="l" rtl="0">
                        <a:spcBef>
                          <a:spcPts val="0"/>
                        </a:spcBef>
                        <a:spcAft>
                          <a:spcPts val="0"/>
                        </a:spcAft>
                        <a:buNone/>
                      </a:pPr>
                      <a:r>
                        <a:rPr lang="en-US" sz="1000" b="0" strike="noStrike" dirty="0">
                          <a:latin typeface="+mj-lt"/>
                          <a:ea typeface="Arial"/>
                          <a:cs typeface="Arial"/>
                          <a:sym typeface="Arial"/>
                        </a:rPr>
                        <a:t>                                   Description</a:t>
                      </a:r>
                      <a:endParaRPr sz="1000" b="0" strike="noStrike" dirty="0">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6633"/>
                    </a:solidFill>
                  </a:tcPr>
                </a:tc>
                <a:tc>
                  <a:txBody>
                    <a:bodyPr/>
                    <a:lstStyle/>
                    <a:p>
                      <a:pPr marL="0" marR="0" lvl="0" indent="0" algn="l" rtl="0">
                        <a:spcBef>
                          <a:spcPts val="0"/>
                        </a:spcBef>
                        <a:spcAft>
                          <a:spcPts val="0"/>
                        </a:spcAft>
                        <a:buNone/>
                      </a:pPr>
                      <a:r>
                        <a:rPr lang="en-US" sz="1000" b="0" strike="noStrike" dirty="0">
                          <a:latin typeface="+mj-lt"/>
                          <a:ea typeface="Arial"/>
                          <a:cs typeface="Arial"/>
                          <a:sym typeface="Arial"/>
                        </a:rPr>
                        <a:t>Hypothesized relationship with Profitability</a:t>
                      </a:r>
                      <a:endParaRPr sz="1000" b="0" strike="noStrike" dirty="0">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6633"/>
                    </a:solidFill>
                  </a:tcPr>
                </a:tc>
                <a:extLst>
                  <a:ext uri="{0D108BD9-81ED-4DB2-BD59-A6C34878D82A}">
                    <a16:rowId xmlns:a16="http://schemas.microsoft.com/office/drawing/2014/main" val="10000"/>
                  </a:ext>
                </a:extLst>
              </a:tr>
              <a:tr h="282189">
                <a:tc>
                  <a:txBody>
                    <a:bodyPr/>
                    <a:lstStyle/>
                    <a:p>
                      <a:pPr marL="0" marR="0" lvl="0" indent="0" algn="l" rtl="0">
                        <a:spcBef>
                          <a:spcPts val="0"/>
                        </a:spcBef>
                        <a:spcAft>
                          <a:spcPts val="0"/>
                        </a:spcAft>
                        <a:buNone/>
                      </a:pPr>
                      <a:r>
                        <a:rPr lang="en-US" sz="1000" b="0" strike="noStrike">
                          <a:latin typeface="+mj-lt"/>
                          <a:ea typeface="Arial"/>
                          <a:cs typeface="Arial"/>
                          <a:sym typeface="Arial"/>
                        </a:rPr>
                        <a:t>    ROA</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000" b="0" strike="noStrike" dirty="0">
                          <a:latin typeface="+mj-lt"/>
                          <a:ea typeface="Arial"/>
                          <a:cs typeface="Arial"/>
                          <a:sym typeface="Arial"/>
                        </a:rPr>
                        <a:t>The Return of Average Total Assets of Bank j in Year t</a:t>
                      </a:r>
                      <a:endParaRPr sz="1000" b="0" strike="noStrike" dirty="0">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NA</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extLst>
                  <a:ext uri="{0D108BD9-81ED-4DB2-BD59-A6C34878D82A}">
                    <a16:rowId xmlns:a16="http://schemas.microsoft.com/office/drawing/2014/main" val="10001"/>
                  </a:ext>
                </a:extLst>
              </a:tr>
              <a:tr h="282189">
                <a:tc>
                  <a:txBody>
                    <a:bodyPr/>
                    <a:lstStyle/>
                    <a:p>
                      <a:pPr marL="0" marR="0" lvl="0" indent="0" algn="l" rtl="0">
                        <a:spcBef>
                          <a:spcPts val="0"/>
                        </a:spcBef>
                        <a:spcAft>
                          <a:spcPts val="0"/>
                        </a:spcAft>
                        <a:buNone/>
                      </a:pPr>
                      <a:r>
                        <a:rPr lang="en-US" sz="1000" b="0" strike="noStrike">
                          <a:latin typeface="+mj-lt"/>
                          <a:ea typeface="Arial"/>
                          <a:cs typeface="Arial"/>
                          <a:sym typeface="Arial"/>
                        </a:rPr>
                        <a:t>    ROE</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dirty="0">
                          <a:latin typeface="+mj-lt"/>
                          <a:ea typeface="Arial"/>
                          <a:cs typeface="Arial"/>
                          <a:sym typeface="Arial"/>
                        </a:rPr>
                        <a:t>The Return on Average Shareholder’s Equity of Bank j in Year t</a:t>
                      </a:r>
                      <a:endParaRPr sz="1000" b="0" strike="noStrike" dirty="0">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NA</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extLst>
                  <a:ext uri="{0D108BD9-81ED-4DB2-BD59-A6C34878D82A}">
                    <a16:rowId xmlns:a16="http://schemas.microsoft.com/office/drawing/2014/main" val="10002"/>
                  </a:ext>
                </a:extLst>
              </a:tr>
              <a:tr h="282189">
                <a:tc>
                  <a:txBody>
                    <a:bodyPr/>
                    <a:lstStyle/>
                    <a:p>
                      <a:pPr marL="0" marR="0" lvl="0" indent="0" algn="l" rtl="0">
                        <a:spcBef>
                          <a:spcPts val="0"/>
                        </a:spcBef>
                        <a:spcAft>
                          <a:spcPts val="0"/>
                        </a:spcAft>
                        <a:buNone/>
                      </a:pPr>
                      <a:r>
                        <a:rPr lang="en-US" sz="1000" b="0" strike="noStrike">
                          <a:latin typeface="+mj-lt"/>
                          <a:ea typeface="Arial"/>
                          <a:cs typeface="Arial"/>
                          <a:sym typeface="Arial"/>
                        </a:rPr>
                        <a:t>    LNTA</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dirty="0">
                          <a:latin typeface="+mj-lt"/>
                          <a:ea typeface="Arial"/>
                          <a:cs typeface="Arial"/>
                          <a:sym typeface="Arial"/>
                        </a:rPr>
                        <a:t>The Logarithmic of Total Assets of Bank j in Year t</a:t>
                      </a:r>
                      <a:endParaRPr sz="1000" b="0" strike="noStrike" dirty="0">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 +</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extLst>
                  <a:ext uri="{0D108BD9-81ED-4DB2-BD59-A6C34878D82A}">
                    <a16:rowId xmlns:a16="http://schemas.microsoft.com/office/drawing/2014/main" val="10003"/>
                  </a:ext>
                </a:extLst>
              </a:tr>
              <a:tr h="282189">
                <a:tc>
                  <a:txBody>
                    <a:bodyPr/>
                    <a:lstStyle/>
                    <a:p>
                      <a:pPr marL="0" marR="0" lvl="0" indent="0" algn="l" rtl="0">
                        <a:spcBef>
                          <a:spcPts val="0"/>
                        </a:spcBef>
                        <a:spcAft>
                          <a:spcPts val="0"/>
                        </a:spcAft>
                        <a:buNone/>
                      </a:pPr>
                      <a:r>
                        <a:rPr lang="en-US" sz="1000" b="0" strike="noStrike">
                          <a:latin typeface="+mj-lt"/>
                          <a:ea typeface="Arial"/>
                          <a:cs typeface="Arial"/>
                          <a:sym typeface="Arial"/>
                        </a:rPr>
                        <a:t>    LEV</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The Leverage of Bank j in Year t</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 +</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extLst>
                  <a:ext uri="{0D108BD9-81ED-4DB2-BD59-A6C34878D82A}">
                    <a16:rowId xmlns:a16="http://schemas.microsoft.com/office/drawing/2014/main" val="10004"/>
                  </a:ext>
                </a:extLst>
              </a:tr>
              <a:tr h="282189">
                <a:tc>
                  <a:txBody>
                    <a:bodyPr/>
                    <a:lstStyle/>
                    <a:p>
                      <a:pPr marL="0" marR="0" lvl="0" indent="0" algn="l" rtl="0">
                        <a:spcBef>
                          <a:spcPts val="0"/>
                        </a:spcBef>
                        <a:spcAft>
                          <a:spcPts val="0"/>
                        </a:spcAft>
                        <a:buNone/>
                      </a:pPr>
                      <a:r>
                        <a:rPr lang="en-US" sz="1000" b="0" strike="noStrike">
                          <a:latin typeface="+mj-lt"/>
                          <a:ea typeface="Arial"/>
                          <a:cs typeface="Arial"/>
                          <a:sym typeface="Arial"/>
                        </a:rPr>
                        <a:t>    FIN</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The Loans/Financings of Bank j in Year t</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 + </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extLst>
                  <a:ext uri="{0D108BD9-81ED-4DB2-BD59-A6C34878D82A}">
                    <a16:rowId xmlns:a16="http://schemas.microsoft.com/office/drawing/2014/main" val="10005"/>
                  </a:ext>
                </a:extLst>
              </a:tr>
              <a:tr h="282189">
                <a:tc>
                  <a:txBody>
                    <a:bodyPr/>
                    <a:lstStyle/>
                    <a:p>
                      <a:pPr marL="0" marR="0" lvl="0" indent="0" algn="l" rtl="0">
                        <a:spcBef>
                          <a:spcPts val="0"/>
                        </a:spcBef>
                        <a:spcAft>
                          <a:spcPts val="0"/>
                        </a:spcAft>
                        <a:buNone/>
                      </a:pPr>
                      <a:r>
                        <a:rPr lang="en-US" sz="1000" b="0" strike="noStrike">
                          <a:latin typeface="+mj-lt"/>
                          <a:ea typeface="Arial"/>
                          <a:cs typeface="Arial"/>
                          <a:sym typeface="Arial"/>
                        </a:rPr>
                        <a:t>    SF</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The Short-term funding of Bank j in Year t</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 -</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extLst>
                  <a:ext uri="{0D108BD9-81ED-4DB2-BD59-A6C34878D82A}">
                    <a16:rowId xmlns:a16="http://schemas.microsoft.com/office/drawing/2014/main" val="10006"/>
                  </a:ext>
                </a:extLst>
              </a:tr>
              <a:tr h="282189">
                <a:tc>
                  <a:txBody>
                    <a:bodyPr/>
                    <a:lstStyle/>
                    <a:p>
                      <a:pPr marL="0" marR="0" lvl="0" indent="0" algn="l" rtl="0">
                        <a:spcBef>
                          <a:spcPts val="0"/>
                        </a:spcBef>
                        <a:spcAft>
                          <a:spcPts val="0"/>
                        </a:spcAft>
                        <a:buNone/>
                      </a:pPr>
                      <a:r>
                        <a:rPr lang="en-US" sz="1000" b="0" strike="noStrike">
                          <a:latin typeface="+mj-lt"/>
                          <a:ea typeface="Arial"/>
                          <a:cs typeface="Arial"/>
                          <a:sym typeface="Arial"/>
                        </a:rPr>
                        <a:t>   OHE</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000" b="0" strike="noStrike">
                          <a:latin typeface="+mj-lt"/>
                          <a:ea typeface="Arial"/>
                          <a:cs typeface="Arial"/>
                          <a:sym typeface="Arial"/>
                        </a:rPr>
                        <a:t>   The Overhead Expenses of Bank j in Year t</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 + </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extLst>
                  <a:ext uri="{0D108BD9-81ED-4DB2-BD59-A6C34878D82A}">
                    <a16:rowId xmlns:a16="http://schemas.microsoft.com/office/drawing/2014/main" val="10007"/>
                  </a:ext>
                </a:extLst>
              </a:tr>
              <a:tr h="282189">
                <a:tc>
                  <a:txBody>
                    <a:bodyPr/>
                    <a:lstStyle/>
                    <a:p>
                      <a:pPr marL="0" marR="0" lvl="0" indent="0" algn="l" rtl="0">
                        <a:spcBef>
                          <a:spcPts val="0"/>
                        </a:spcBef>
                        <a:spcAft>
                          <a:spcPts val="0"/>
                        </a:spcAft>
                        <a:buNone/>
                      </a:pPr>
                      <a:r>
                        <a:rPr lang="en-US" sz="1000" b="0" strike="noStrike">
                          <a:latin typeface="+mj-lt"/>
                          <a:ea typeface="Arial"/>
                          <a:cs typeface="Arial"/>
                          <a:sym typeface="Arial"/>
                        </a:rPr>
                        <a:t>   EQUITY</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The Total Shareholder’s Equity of Bank j in Year t</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 +</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extLst>
                  <a:ext uri="{0D108BD9-81ED-4DB2-BD59-A6C34878D82A}">
                    <a16:rowId xmlns:a16="http://schemas.microsoft.com/office/drawing/2014/main" val="10008"/>
                  </a:ext>
                </a:extLst>
              </a:tr>
              <a:tr h="282189">
                <a:tc>
                  <a:txBody>
                    <a:bodyPr/>
                    <a:lstStyle/>
                    <a:p>
                      <a:pPr marL="0" marR="0" lvl="0" indent="0" algn="l" rtl="0">
                        <a:spcBef>
                          <a:spcPts val="0"/>
                        </a:spcBef>
                        <a:spcAft>
                          <a:spcPts val="0"/>
                        </a:spcAft>
                        <a:buNone/>
                      </a:pPr>
                      <a:r>
                        <a:rPr lang="en-US" sz="1000" b="0" strike="noStrike">
                          <a:latin typeface="+mj-lt"/>
                          <a:ea typeface="Arial"/>
                          <a:cs typeface="Arial"/>
                          <a:sym typeface="Arial"/>
                        </a:rPr>
                        <a:t>   GDPPC</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The GDP per capita of country j in Year t</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 +</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extLst>
                  <a:ext uri="{0D108BD9-81ED-4DB2-BD59-A6C34878D82A}">
                    <a16:rowId xmlns:a16="http://schemas.microsoft.com/office/drawing/2014/main" val="10009"/>
                  </a:ext>
                </a:extLst>
              </a:tr>
              <a:tr h="282189">
                <a:tc>
                  <a:txBody>
                    <a:bodyPr/>
                    <a:lstStyle/>
                    <a:p>
                      <a:pPr marL="0" marR="0" lvl="0" indent="0" algn="l" rtl="0">
                        <a:spcBef>
                          <a:spcPts val="0"/>
                        </a:spcBef>
                        <a:spcAft>
                          <a:spcPts val="0"/>
                        </a:spcAft>
                        <a:buNone/>
                      </a:pPr>
                      <a:r>
                        <a:rPr lang="en-US" sz="1000" b="0" strike="noStrike">
                          <a:latin typeface="+mj-lt"/>
                          <a:ea typeface="Arial"/>
                          <a:cs typeface="Arial"/>
                          <a:sym typeface="Arial"/>
                        </a:rPr>
                        <a:t>DUMCRISIS</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A Dummy Variable for financial crisis (1) and others (0)</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216000" marR="0" lvl="0" indent="-216000" algn="l" rtl="0">
                        <a:spcBef>
                          <a:spcPts val="0"/>
                        </a:spcBef>
                        <a:spcAft>
                          <a:spcPts val="0"/>
                        </a:spcAft>
                        <a:buClr>
                          <a:srgbClr val="000000"/>
                        </a:buClr>
                        <a:buSzPts val="810"/>
                        <a:buFont typeface="Noto Sans Symbols"/>
                        <a:buChar char="●"/>
                      </a:pPr>
                      <a:r>
                        <a:rPr lang="en-US" sz="1000" b="0" strike="noStrike">
                          <a:latin typeface="+mj-lt"/>
                          <a:ea typeface="Arial"/>
                          <a:cs typeface="Arial"/>
                          <a:sym typeface="Arial"/>
                        </a:rPr>
                        <a:t> -</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extLst>
                  <a:ext uri="{0D108BD9-81ED-4DB2-BD59-A6C34878D82A}">
                    <a16:rowId xmlns:a16="http://schemas.microsoft.com/office/drawing/2014/main" val="10010"/>
                  </a:ext>
                </a:extLst>
              </a:tr>
              <a:tr h="376207">
                <a:tc>
                  <a:txBody>
                    <a:bodyPr/>
                    <a:lstStyle/>
                    <a:p>
                      <a:pPr marL="0" marR="0" lvl="0" indent="0" algn="l" rtl="0">
                        <a:spcBef>
                          <a:spcPts val="0"/>
                        </a:spcBef>
                        <a:spcAft>
                          <a:spcPts val="0"/>
                        </a:spcAft>
                        <a:buNone/>
                      </a:pPr>
                      <a:r>
                        <a:rPr lang="en-US" sz="1000" b="0" strike="noStrike">
                          <a:latin typeface="+mj-lt"/>
                          <a:ea typeface="Arial"/>
                          <a:cs typeface="Arial"/>
                          <a:sym typeface="Arial"/>
                        </a:rPr>
                        <a:t>DUMTRAN</a:t>
                      </a:r>
                      <a:endParaRPr sz="10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000" b="0" strike="noStrike" dirty="0">
                          <a:latin typeface="+mj-lt"/>
                          <a:ea typeface="Arial"/>
                          <a:cs typeface="Arial"/>
                          <a:sym typeface="Arial"/>
                        </a:rPr>
                        <a:t>A Dummy Variable for a period after financial crisis (1) and others (0) </a:t>
                      </a:r>
                      <a:endParaRPr sz="1000" b="0" strike="noStrike" dirty="0">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lvl="0" indent="0" algn="l" rtl="0">
                        <a:spcBef>
                          <a:spcPts val="0"/>
                        </a:spcBef>
                        <a:spcAft>
                          <a:spcPts val="0"/>
                        </a:spcAft>
                        <a:buNone/>
                      </a:pPr>
                      <a:endParaRPr sz="1000" dirty="0">
                        <a:latin typeface="+mj-lt"/>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9"/>
          <p:cNvSpPr txBox="1"/>
          <p:nvPr/>
        </p:nvSpPr>
        <p:spPr>
          <a:xfrm>
            <a:off x="540000" y="450000"/>
            <a:ext cx="8640000" cy="63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800" b="1" strike="noStrike" dirty="0">
                <a:latin typeface="+mj-lt"/>
                <a:ea typeface="Arial"/>
                <a:cs typeface="Arial"/>
                <a:sym typeface="Arial"/>
              </a:rPr>
              <a:t>SUMMARY STATISTICS OF DEPENDENT AND EXPLANATORY VARIABLES</a:t>
            </a:r>
            <a:endParaRPr sz="1800" b="0" strike="noStrike" dirty="0">
              <a:latin typeface="+mj-lt"/>
              <a:ea typeface="Arial"/>
              <a:cs typeface="Arial"/>
              <a:sym typeface="Arial"/>
            </a:endParaRPr>
          </a:p>
        </p:txBody>
      </p:sp>
      <p:graphicFrame>
        <p:nvGraphicFramePr>
          <p:cNvPr id="109" name="Google Shape;109;p19"/>
          <p:cNvGraphicFramePr/>
          <p:nvPr>
            <p:extLst>
              <p:ext uri="{D42A27DB-BD31-4B8C-83A1-F6EECF244321}">
                <p14:modId xmlns:p14="http://schemas.microsoft.com/office/powerpoint/2010/main" val="2652638978"/>
              </p:ext>
            </p:extLst>
          </p:nvPr>
        </p:nvGraphicFramePr>
        <p:xfrm>
          <a:off x="685800" y="1436760"/>
          <a:ext cx="8458150" cy="3282875"/>
        </p:xfrm>
        <a:graphic>
          <a:graphicData uri="http://schemas.openxmlformats.org/drawingml/2006/table">
            <a:tbl>
              <a:tblPr>
                <a:noFill/>
                <a:tableStyleId>{0D8B5D91-69DD-4FBD-BEE7-8DBDDD7CB514}</a:tableStyleId>
              </a:tblPr>
              <a:tblGrid>
                <a:gridCol w="938875">
                  <a:extLst>
                    <a:ext uri="{9D8B030D-6E8A-4147-A177-3AD203B41FA5}">
                      <a16:colId xmlns:a16="http://schemas.microsoft.com/office/drawing/2014/main" val="20000"/>
                    </a:ext>
                  </a:extLst>
                </a:gridCol>
                <a:gridCol w="938875">
                  <a:extLst>
                    <a:ext uri="{9D8B030D-6E8A-4147-A177-3AD203B41FA5}">
                      <a16:colId xmlns:a16="http://schemas.microsoft.com/office/drawing/2014/main" val="20001"/>
                    </a:ext>
                  </a:extLst>
                </a:gridCol>
                <a:gridCol w="938875">
                  <a:extLst>
                    <a:ext uri="{9D8B030D-6E8A-4147-A177-3AD203B41FA5}">
                      <a16:colId xmlns:a16="http://schemas.microsoft.com/office/drawing/2014/main" val="20002"/>
                    </a:ext>
                  </a:extLst>
                </a:gridCol>
                <a:gridCol w="938875">
                  <a:extLst>
                    <a:ext uri="{9D8B030D-6E8A-4147-A177-3AD203B41FA5}">
                      <a16:colId xmlns:a16="http://schemas.microsoft.com/office/drawing/2014/main" val="20003"/>
                    </a:ext>
                  </a:extLst>
                </a:gridCol>
                <a:gridCol w="938875">
                  <a:extLst>
                    <a:ext uri="{9D8B030D-6E8A-4147-A177-3AD203B41FA5}">
                      <a16:colId xmlns:a16="http://schemas.microsoft.com/office/drawing/2014/main" val="20004"/>
                    </a:ext>
                  </a:extLst>
                </a:gridCol>
                <a:gridCol w="938875">
                  <a:extLst>
                    <a:ext uri="{9D8B030D-6E8A-4147-A177-3AD203B41FA5}">
                      <a16:colId xmlns:a16="http://schemas.microsoft.com/office/drawing/2014/main" val="20005"/>
                    </a:ext>
                  </a:extLst>
                </a:gridCol>
                <a:gridCol w="938875">
                  <a:extLst>
                    <a:ext uri="{9D8B030D-6E8A-4147-A177-3AD203B41FA5}">
                      <a16:colId xmlns:a16="http://schemas.microsoft.com/office/drawing/2014/main" val="20006"/>
                    </a:ext>
                  </a:extLst>
                </a:gridCol>
                <a:gridCol w="938875">
                  <a:extLst>
                    <a:ext uri="{9D8B030D-6E8A-4147-A177-3AD203B41FA5}">
                      <a16:colId xmlns:a16="http://schemas.microsoft.com/office/drawing/2014/main" val="20007"/>
                    </a:ext>
                  </a:extLst>
                </a:gridCol>
                <a:gridCol w="947150">
                  <a:extLst>
                    <a:ext uri="{9D8B030D-6E8A-4147-A177-3AD203B41FA5}">
                      <a16:colId xmlns:a16="http://schemas.microsoft.com/office/drawing/2014/main" val="20008"/>
                    </a:ext>
                  </a:extLst>
                </a:gridCol>
              </a:tblGrid>
              <a:tr h="656650">
                <a:tc>
                  <a:txBody>
                    <a:bodyPr/>
                    <a:lstStyle/>
                    <a:p>
                      <a:pPr marL="0" lvl="0" indent="0" algn="l" rtl="0">
                        <a:spcBef>
                          <a:spcPts val="0"/>
                        </a:spcBef>
                        <a:spcAft>
                          <a:spcPts val="0"/>
                        </a:spcAft>
                        <a:buNone/>
                      </a:pPr>
                      <a:endParaRPr>
                        <a:latin typeface="+mj-lt"/>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6633"/>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ROE</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6633"/>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ROA</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6633"/>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LGDP</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6633"/>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LFIN</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6633"/>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LTA</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6633"/>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LLEV</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6633"/>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LOHE</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6633"/>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LEQ</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6633"/>
                    </a:solidFill>
                  </a:tcPr>
                </a:tc>
                <a:extLst>
                  <a:ext uri="{0D108BD9-81ED-4DB2-BD59-A6C34878D82A}">
                    <a16:rowId xmlns:a16="http://schemas.microsoft.com/office/drawing/2014/main" val="10000"/>
                  </a:ext>
                </a:extLst>
              </a:tr>
              <a:tr h="656650">
                <a:tc>
                  <a:txBody>
                    <a:bodyPr/>
                    <a:lstStyle/>
                    <a:p>
                      <a:pPr marL="0" marR="0" lvl="0" indent="0" algn="l" rtl="0">
                        <a:spcBef>
                          <a:spcPts val="0"/>
                        </a:spcBef>
                        <a:spcAft>
                          <a:spcPts val="0"/>
                        </a:spcAft>
                        <a:buNone/>
                      </a:pPr>
                      <a:r>
                        <a:rPr lang="en-US" sz="1800" b="0" strike="noStrike">
                          <a:latin typeface="+mj-lt"/>
                          <a:ea typeface="Arial"/>
                          <a:cs typeface="Arial"/>
                          <a:sym typeface="Arial"/>
                        </a:rPr>
                        <a:t>MEAN.</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1.405</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0.182</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10.01</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4.959</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6.898</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6.164</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3.539</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5.715</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extLst>
                  <a:ext uri="{0D108BD9-81ED-4DB2-BD59-A6C34878D82A}">
                    <a16:rowId xmlns:a16="http://schemas.microsoft.com/office/drawing/2014/main" val="10001"/>
                  </a:ext>
                </a:extLst>
              </a:tr>
              <a:tr h="656650">
                <a:tc>
                  <a:txBody>
                    <a:bodyPr/>
                    <a:lstStyle/>
                    <a:p>
                      <a:pPr marL="0" marR="0" lvl="0" indent="0" algn="l" rtl="0">
                        <a:spcBef>
                          <a:spcPts val="0"/>
                        </a:spcBef>
                        <a:spcAft>
                          <a:spcPts val="0"/>
                        </a:spcAft>
                        <a:buNone/>
                      </a:pPr>
                      <a:r>
                        <a:rPr lang="en-US" sz="1800" b="0" strike="noStrike">
                          <a:latin typeface="+mj-lt"/>
                          <a:ea typeface="Arial"/>
                          <a:cs typeface="Arial"/>
                          <a:sym typeface="Arial"/>
                        </a:rPr>
                        <a:t>MAX.</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61.02</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dirty="0">
                          <a:latin typeface="+mj-lt"/>
                          <a:ea typeface="Arial"/>
                          <a:cs typeface="Arial"/>
                          <a:sym typeface="Arial"/>
                        </a:rPr>
                        <a:t>53.09</a:t>
                      </a:r>
                      <a:endParaRPr sz="1800" b="0" strike="noStrike" dirty="0">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10.26</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dirty="0">
                          <a:latin typeface="+mj-lt"/>
                          <a:ea typeface="Arial"/>
                          <a:cs typeface="Arial"/>
                          <a:sym typeface="Arial"/>
                        </a:rPr>
                        <a:t>9.215</a:t>
                      </a:r>
                      <a:endParaRPr sz="1800" b="0" strike="noStrike" dirty="0">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9.673</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9.516</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6.429</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7.506</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extLst>
                  <a:ext uri="{0D108BD9-81ED-4DB2-BD59-A6C34878D82A}">
                    <a16:rowId xmlns:a16="http://schemas.microsoft.com/office/drawing/2014/main" val="10002"/>
                  </a:ext>
                </a:extLst>
              </a:tr>
              <a:tr h="656650">
                <a:tc>
                  <a:txBody>
                    <a:bodyPr/>
                    <a:lstStyle/>
                    <a:p>
                      <a:pPr marL="0" marR="0" lvl="0" indent="0" algn="l" rtl="0">
                        <a:spcBef>
                          <a:spcPts val="0"/>
                        </a:spcBef>
                        <a:spcAft>
                          <a:spcPts val="0"/>
                        </a:spcAft>
                        <a:buNone/>
                      </a:pPr>
                      <a:r>
                        <a:rPr lang="en-US" sz="1800" b="0" strike="noStrike">
                          <a:latin typeface="+mj-lt"/>
                          <a:ea typeface="Arial"/>
                          <a:cs typeface="Arial"/>
                          <a:sym typeface="Arial"/>
                        </a:rPr>
                        <a:t>MIN.</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-127.2</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-45.31</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9.795</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-0.693</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3.833</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1.932</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0.916</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3.532</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9966"/>
                    </a:solidFill>
                  </a:tcPr>
                </a:tc>
                <a:extLst>
                  <a:ext uri="{0D108BD9-81ED-4DB2-BD59-A6C34878D82A}">
                    <a16:rowId xmlns:a16="http://schemas.microsoft.com/office/drawing/2014/main" val="10003"/>
                  </a:ext>
                </a:extLst>
              </a:tr>
              <a:tr h="656275">
                <a:tc>
                  <a:txBody>
                    <a:bodyPr/>
                    <a:lstStyle/>
                    <a:p>
                      <a:pPr marL="0" marR="0" lvl="0" indent="0" algn="l" rtl="0">
                        <a:spcBef>
                          <a:spcPts val="0"/>
                        </a:spcBef>
                        <a:spcAft>
                          <a:spcPts val="0"/>
                        </a:spcAft>
                        <a:buNone/>
                      </a:pPr>
                      <a:r>
                        <a:rPr lang="en-US" sz="1800" b="0" strike="noStrike">
                          <a:latin typeface="+mj-lt"/>
                          <a:ea typeface="Arial"/>
                          <a:cs typeface="Arial"/>
                          <a:sym typeface="Arial"/>
                        </a:rPr>
                        <a:t>S.D.</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35.63</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15.89</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0.165</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2.523</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1.506</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2.185</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a:latin typeface="+mj-lt"/>
                          <a:ea typeface="Arial"/>
                          <a:cs typeface="Arial"/>
                          <a:sym typeface="Arial"/>
                        </a:rPr>
                        <a:t>1.559</a:t>
                      </a:r>
                      <a:endParaRPr sz="1800" b="0" strike="noStrike">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tc>
                  <a:txBody>
                    <a:bodyPr/>
                    <a:lstStyle/>
                    <a:p>
                      <a:pPr marL="0" marR="0" lvl="0" indent="0" algn="l" rtl="0">
                        <a:spcBef>
                          <a:spcPts val="0"/>
                        </a:spcBef>
                        <a:spcAft>
                          <a:spcPts val="0"/>
                        </a:spcAft>
                        <a:buNone/>
                      </a:pPr>
                      <a:r>
                        <a:rPr lang="en-US" sz="1800" b="0" strike="noStrike" dirty="0">
                          <a:latin typeface="+mj-lt"/>
                          <a:ea typeface="Arial"/>
                          <a:cs typeface="Arial"/>
                          <a:sym typeface="Arial"/>
                        </a:rPr>
                        <a:t>1.069</a:t>
                      </a:r>
                      <a:endParaRPr sz="1800" b="0" strike="noStrike" dirty="0">
                        <a:latin typeface="+mj-lt"/>
                        <a:ea typeface="Arial"/>
                        <a:cs typeface="Arial"/>
                        <a:sym typeface="Arial"/>
                      </a:endParaRPr>
                    </a:p>
                  </a:txBody>
                  <a:tcPr marL="90000" marR="90000"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FCC9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p:nvPr/>
        </p:nvSpPr>
        <p:spPr>
          <a:xfrm>
            <a:off x="540000" y="450000"/>
            <a:ext cx="8640000" cy="63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700" b="1" strike="noStrike" dirty="0">
                <a:latin typeface="+mj-lt"/>
                <a:ea typeface="Arial"/>
                <a:cs typeface="Arial"/>
                <a:sym typeface="Arial"/>
              </a:rPr>
              <a:t>ECONOMIC SPECIFICATION</a:t>
            </a:r>
            <a:endParaRPr sz="2700" b="0" strike="noStrike" dirty="0">
              <a:latin typeface="+mj-lt"/>
              <a:ea typeface="Arial"/>
              <a:cs typeface="Arial"/>
              <a:sym typeface="Arial"/>
            </a:endParaRPr>
          </a:p>
        </p:txBody>
      </p:sp>
      <p:sp>
        <p:nvSpPr>
          <p:cNvPr id="115" name="Google Shape;115;p20"/>
          <p:cNvSpPr txBox="1"/>
          <p:nvPr/>
        </p:nvSpPr>
        <p:spPr>
          <a:xfrm>
            <a:off x="540000" y="1828800"/>
            <a:ext cx="9000000" cy="321588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1600" b="1" strike="noStrike" dirty="0" err="1">
                <a:highlight>
                  <a:srgbClr val="FFFF00"/>
                </a:highlight>
                <a:latin typeface="+mj-lt"/>
                <a:ea typeface="Arial"/>
                <a:cs typeface="Arial"/>
                <a:sym typeface="Arial"/>
              </a:rPr>
              <a:t>Yrjt</a:t>
            </a:r>
            <a:r>
              <a:rPr lang="en-US" sz="1600" b="0" strike="noStrike" dirty="0">
                <a:highlight>
                  <a:srgbClr val="FFFF00"/>
                </a:highlight>
                <a:latin typeface="+mj-lt"/>
                <a:ea typeface="Arial"/>
                <a:cs typeface="Arial"/>
                <a:sym typeface="Arial"/>
              </a:rPr>
              <a:t> =</a:t>
            </a:r>
            <a:r>
              <a:rPr lang="en-US" sz="1600" b="1" strike="noStrike" dirty="0">
                <a:highlight>
                  <a:srgbClr val="FFFF00"/>
                </a:highlight>
                <a:latin typeface="+mj-lt"/>
                <a:ea typeface="Arial"/>
                <a:cs typeface="Arial"/>
                <a:sym typeface="Arial"/>
              </a:rPr>
              <a:t> </a:t>
            </a:r>
            <a:r>
              <a:rPr lang="en-US" sz="1600" b="1" strike="noStrike" dirty="0" err="1">
                <a:highlight>
                  <a:srgbClr val="FFFF00"/>
                </a:highlight>
                <a:latin typeface="+mj-lt"/>
                <a:ea typeface="Arial"/>
                <a:cs typeface="Arial"/>
                <a:sym typeface="Arial"/>
              </a:rPr>
              <a:t>δt</a:t>
            </a:r>
            <a:r>
              <a:rPr lang="en-US" sz="1600" b="1" strike="noStrike" dirty="0">
                <a:highlight>
                  <a:srgbClr val="FFFF00"/>
                </a:highlight>
                <a:latin typeface="+mj-lt"/>
                <a:ea typeface="Arial"/>
                <a:cs typeface="Arial"/>
                <a:sym typeface="Arial"/>
              </a:rPr>
              <a:t> </a:t>
            </a:r>
            <a:r>
              <a:rPr lang="en-US" sz="1600" b="0" strike="noStrike" dirty="0">
                <a:highlight>
                  <a:srgbClr val="FFFF00"/>
                </a:highlight>
                <a:latin typeface="+mj-lt"/>
                <a:ea typeface="Arial"/>
                <a:cs typeface="Arial"/>
                <a:sym typeface="Arial"/>
              </a:rPr>
              <a:t>+ </a:t>
            </a:r>
            <a:r>
              <a:rPr lang="en-US" sz="1600" b="1" strike="noStrike" dirty="0">
                <a:highlight>
                  <a:srgbClr val="FFFF00"/>
                </a:highlight>
                <a:latin typeface="+mj-lt"/>
                <a:ea typeface="Arial"/>
                <a:cs typeface="Arial"/>
                <a:sym typeface="Arial"/>
              </a:rPr>
              <a:t>α</a:t>
            </a:r>
            <a:r>
              <a:rPr lang="en-US" sz="1600" b="1" strike="noStrike" dirty="0" err="1">
                <a:highlight>
                  <a:srgbClr val="FFFF00"/>
                </a:highlight>
                <a:latin typeface="+mj-lt"/>
                <a:ea typeface="Arial"/>
                <a:cs typeface="Arial"/>
                <a:sym typeface="Arial"/>
              </a:rPr>
              <a:t>jtXijt</a:t>
            </a:r>
            <a:r>
              <a:rPr lang="en-US" sz="1600" b="0" strike="noStrike" dirty="0">
                <a:highlight>
                  <a:srgbClr val="FFFF00"/>
                </a:highlight>
                <a:latin typeface="+mj-lt"/>
                <a:ea typeface="Arial"/>
                <a:cs typeface="Arial"/>
                <a:sym typeface="Arial"/>
              </a:rPr>
              <a:t> + </a:t>
            </a:r>
            <a:r>
              <a:rPr lang="en-US" sz="1600" b="1" strike="noStrike" dirty="0">
                <a:highlight>
                  <a:srgbClr val="FFFF00"/>
                </a:highlight>
                <a:latin typeface="+mj-lt"/>
                <a:ea typeface="Arial"/>
                <a:cs typeface="Arial"/>
                <a:sym typeface="Arial"/>
              </a:rPr>
              <a:t>β</a:t>
            </a:r>
            <a:r>
              <a:rPr lang="en-US" sz="1600" b="1" strike="noStrike" dirty="0" err="1">
                <a:highlight>
                  <a:srgbClr val="FFFF00"/>
                </a:highlight>
                <a:latin typeface="+mj-lt"/>
                <a:ea typeface="Arial"/>
                <a:cs typeface="Arial"/>
                <a:sym typeface="Arial"/>
              </a:rPr>
              <a:t>itXejt</a:t>
            </a:r>
            <a:r>
              <a:rPr lang="en-US" sz="1600" b="1" strike="noStrike" dirty="0">
                <a:highlight>
                  <a:srgbClr val="FFFF00"/>
                </a:highlight>
                <a:latin typeface="+mj-lt"/>
                <a:ea typeface="Arial"/>
                <a:cs typeface="Arial"/>
                <a:sym typeface="Arial"/>
              </a:rPr>
              <a:t> </a:t>
            </a:r>
            <a:r>
              <a:rPr lang="en-US" sz="1600" b="0" strike="noStrike" dirty="0">
                <a:highlight>
                  <a:srgbClr val="FFFF00"/>
                </a:highlight>
                <a:latin typeface="+mj-lt"/>
                <a:ea typeface="Arial"/>
                <a:cs typeface="Arial"/>
                <a:sym typeface="Arial"/>
              </a:rPr>
              <a:t>+ </a:t>
            </a:r>
            <a:r>
              <a:rPr lang="en-US" sz="1600" b="1" strike="noStrike" dirty="0" err="1">
                <a:highlight>
                  <a:srgbClr val="FFFF00"/>
                </a:highlight>
                <a:latin typeface="+mj-lt"/>
                <a:ea typeface="Arial"/>
                <a:cs typeface="Arial"/>
                <a:sym typeface="Arial"/>
              </a:rPr>
              <a:t>εjt</a:t>
            </a:r>
            <a:endParaRPr sz="1600" b="0" strike="noStrike" dirty="0">
              <a:highlight>
                <a:srgbClr val="FFFF00"/>
              </a:highlight>
              <a:latin typeface="+mj-lt"/>
              <a:ea typeface="Arial"/>
              <a:cs typeface="Arial"/>
              <a:sym typeface="Arial"/>
            </a:endParaRPr>
          </a:p>
          <a:p>
            <a:pPr marL="0" marR="0" lvl="0" indent="0" algn="ctr" rtl="0">
              <a:spcBef>
                <a:spcPts val="0"/>
              </a:spcBef>
              <a:spcAft>
                <a:spcPts val="0"/>
              </a:spcAft>
              <a:buNone/>
            </a:pPr>
            <a:r>
              <a:rPr lang="en-US" sz="1600" b="1" strike="noStrike" dirty="0">
                <a:latin typeface="+mj-lt"/>
                <a:ea typeface="Arial"/>
                <a:cs typeface="Arial"/>
                <a:sym typeface="Arial"/>
              </a:rPr>
              <a:t>where j refers to an individual Islamic bank; t refers to year, </a:t>
            </a:r>
            <a:r>
              <a:rPr lang="en-US" sz="1600" b="1" strike="noStrike" dirty="0" err="1">
                <a:latin typeface="+mj-lt"/>
                <a:ea typeface="Arial"/>
                <a:cs typeface="Arial"/>
                <a:sym typeface="Arial"/>
              </a:rPr>
              <a:t>yrjt</a:t>
            </a:r>
            <a:r>
              <a:rPr lang="en-US" sz="1600" b="1" strike="noStrike" dirty="0">
                <a:latin typeface="+mj-lt"/>
                <a:ea typeface="Arial"/>
                <a:cs typeface="Arial"/>
                <a:sym typeface="Arial"/>
              </a:rPr>
              <a:t> refers to the return on asset (r=1) and return on</a:t>
            </a:r>
            <a:endParaRPr sz="1600" b="0" strike="noStrike" dirty="0">
              <a:latin typeface="+mj-lt"/>
              <a:ea typeface="Arial"/>
              <a:cs typeface="Arial"/>
              <a:sym typeface="Arial"/>
            </a:endParaRPr>
          </a:p>
          <a:p>
            <a:pPr marL="0" marR="0" lvl="0" indent="0" algn="ctr" rtl="0">
              <a:spcBef>
                <a:spcPts val="0"/>
              </a:spcBef>
              <a:spcAft>
                <a:spcPts val="0"/>
              </a:spcAft>
              <a:buNone/>
            </a:pPr>
            <a:r>
              <a:rPr lang="en-US" sz="1600" b="1" strike="noStrike" dirty="0">
                <a:latin typeface="+mj-lt"/>
                <a:ea typeface="Arial"/>
                <a:cs typeface="Arial"/>
                <a:sym typeface="Arial"/>
              </a:rPr>
              <a:t>equity (r=2) and is the observation of bank j in a particular year t; Xi represents the internal factors or determinants</a:t>
            </a:r>
            <a:endParaRPr sz="1600" b="0" strike="noStrike" dirty="0">
              <a:latin typeface="+mj-lt"/>
              <a:ea typeface="Arial"/>
              <a:cs typeface="Arial"/>
              <a:sym typeface="Arial"/>
            </a:endParaRPr>
          </a:p>
          <a:p>
            <a:pPr marL="0" marR="0" lvl="0" indent="0" algn="ctr" rtl="0">
              <a:spcBef>
                <a:spcPts val="0"/>
              </a:spcBef>
              <a:spcAft>
                <a:spcPts val="0"/>
              </a:spcAft>
              <a:buNone/>
            </a:pPr>
            <a:r>
              <a:rPr lang="en-US" sz="1600" b="1" strike="noStrike" dirty="0">
                <a:latin typeface="+mj-lt"/>
                <a:ea typeface="Arial"/>
                <a:cs typeface="Arial"/>
                <a:sym typeface="Arial"/>
              </a:rPr>
              <a:t>of a bank; Xe represents the external factors or macroeconomic determinants; and </a:t>
            </a:r>
            <a:r>
              <a:rPr lang="en-US" sz="1600" b="1" strike="noStrike" dirty="0" err="1">
                <a:latin typeface="+mj-lt"/>
                <a:ea typeface="Arial"/>
                <a:cs typeface="Arial"/>
                <a:sym typeface="Arial"/>
              </a:rPr>
              <a:t>εjt</a:t>
            </a:r>
            <a:r>
              <a:rPr lang="en-US" sz="1600" b="1" strike="noStrike" dirty="0">
                <a:latin typeface="+mj-lt"/>
                <a:ea typeface="Arial"/>
                <a:cs typeface="Arial"/>
                <a:sym typeface="Arial"/>
              </a:rPr>
              <a:t> is the random variable disturbance term. </a:t>
            </a:r>
            <a:endParaRPr sz="1600" b="0" strike="noStrike" dirty="0">
              <a:latin typeface="+mj-lt"/>
              <a:ea typeface="Arial"/>
              <a:cs typeface="Arial"/>
              <a:sym typeface="Arial"/>
            </a:endParaRPr>
          </a:p>
          <a:p>
            <a:pPr marL="0" marR="0" lvl="0" indent="0" algn="ctr" rtl="0">
              <a:spcBef>
                <a:spcPts val="0"/>
              </a:spcBef>
              <a:spcAft>
                <a:spcPts val="0"/>
              </a:spcAft>
              <a:buNone/>
            </a:pPr>
            <a:r>
              <a:rPr lang="en-US" sz="1600" b="1" strike="noStrike" dirty="0">
                <a:latin typeface="+mj-lt"/>
                <a:ea typeface="Arial"/>
                <a:cs typeface="Arial"/>
                <a:sym typeface="Arial"/>
              </a:rPr>
              <a:t>Using the above equation the baseline model will be</a:t>
            </a:r>
            <a:endParaRPr sz="1600" b="0" strike="noStrike" dirty="0">
              <a:latin typeface="+mj-lt"/>
              <a:ea typeface="Arial"/>
              <a:cs typeface="Arial"/>
              <a:sym typeface="Arial"/>
            </a:endParaRPr>
          </a:p>
          <a:p>
            <a:pPr marL="0" marR="0" lvl="0" indent="0" algn="ctr" rtl="0">
              <a:spcBef>
                <a:spcPts val="0"/>
              </a:spcBef>
              <a:spcAft>
                <a:spcPts val="0"/>
              </a:spcAft>
              <a:buNone/>
            </a:pPr>
            <a:r>
              <a:rPr lang="en-US" sz="1600" b="1" strike="noStrike" dirty="0" err="1">
                <a:highlight>
                  <a:srgbClr val="FFFF00"/>
                </a:highlight>
                <a:latin typeface="+mj-lt"/>
                <a:ea typeface="Arial"/>
                <a:cs typeface="Arial"/>
                <a:sym typeface="Arial"/>
              </a:rPr>
              <a:t>ROAjt</a:t>
            </a:r>
            <a:r>
              <a:rPr lang="en-US" sz="1600" b="1" strike="noStrike" dirty="0">
                <a:highlight>
                  <a:srgbClr val="FFFF00"/>
                </a:highlight>
                <a:latin typeface="+mj-lt"/>
                <a:ea typeface="Arial"/>
                <a:cs typeface="Arial"/>
                <a:sym typeface="Arial"/>
              </a:rPr>
              <a:t> = δ0 + α1LTAjt + α2LFINjt + α3LLEVjt + α4LOHEjt + α5LEQjt + β1LGDPjt + β2DUMCRISIS + β1DUMTRAN + </a:t>
            </a:r>
            <a:r>
              <a:rPr lang="en-US" sz="1600" b="1" strike="noStrike" dirty="0" err="1">
                <a:highlight>
                  <a:srgbClr val="FFFF00"/>
                </a:highlight>
                <a:latin typeface="+mj-lt"/>
                <a:ea typeface="Arial"/>
                <a:cs typeface="Arial"/>
                <a:sym typeface="Arial"/>
              </a:rPr>
              <a:t>εjt</a:t>
            </a:r>
            <a:endParaRPr sz="1600" b="0" strike="noStrike" dirty="0">
              <a:highlight>
                <a:srgbClr val="FFFF00"/>
              </a:highlight>
              <a:latin typeface="+mj-lt"/>
              <a:ea typeface="Arial"/>
              <a:cs typeface="Arial"/>
              <a:sym typeface="Arial"/>
            </a:endParaRPr>
          </a:p>
          <a:p>
            <a:pPr marL="0" marR="0" lvl="0" indent="0" algn="ctr" rtl="0">
              <a:spcBef>
                <a:spcPts val="0"/>
              </a:spcBef>
              <a:spcAft>
                <a:spcPts val="0"/>
              </a:spcAft>
              <a:buNone/>
            </a:pPr>
            <a:r>
              <a:rPr lang="en-US" sz="1600" b="1" strike="noStrike" dirty="0">
                <a:highlight>
                  <a:srgbClr val="FFFF00"/>
                </a:highlight>
                <a:latin typeface="+mj-lt"/>
                <a:ea typeface="Arial"/>
                <a:cs typeface="Arial"/>
                <a:sym typeface="Arial"/>
              </a:rPr>
              <a:t>ROE = δ0 + α1LTAjt + α2LFINjt + α3LLEVjt + α4LOHEjt + α5LEQjt + β1LGDPjt + β2DUMCRISIS +β3DUMTRAN + </a:t>
            </a:r>
            <a:r>
              <a:rPr lang="en-US" sz="1600" b="1" strike="noStrike" dirty="0" err="1">
                <a:highlight>
                  <a:srgbClr val="FFFF00"/>
                </a:highlight>
                <a:latin typeface="+mj-lt"/>
                <a:ea typeface="Arial"/>
                <a:cs typeface="Arial"/>
                <a:sym typeface="Arial"/>
              </a:rPr>
              <a:t>εjt</a:t>
            </a:r>
            <a:endParaRPr sz="1600" b="0" strike="noStrike" dirty="0">
              <a:highlight>
                <a:srgbClr val="FFFF00"/>
              </a:highlight>
              <a:latin typeface="+mj-lt"/>
              <a:ea typeface="Arial"/>
              <a:cs typeface="Arial"/>
              <a:sym typeface="Arial"/>
            </a:endParaRPr>
          </a:p>
          <a:p>
            <a:pPr marL="0" marR="0" lvl="0" indent="0" algn="ctr" rtl="0">
              <a:spcBef>
                <a:spcPts val="0"/>
              </a:spcBef>
              <a:spcAft>
                <a:spcPts val="0"/>
              </a:spcAft>
              <a:buNone/>
            </a:pPr>
            <a:endParaRPr sz="1600" b="0" strike="noStrike" dirty="0">
              <a:latin typeface="+mj-lt"/>
              <a:ea typeface="Arial"/>
              <a:cs typeface="Arial"/>
              <a:sym typeface="Arial"/>
            </a:endParaRPr>
          </a:p>
        </p:txBody>
      </p:sp>
      <p:sp>
        <p:nvSpPr>
          <p:cNvPr id="116" name="Google Shape;116;p20"/>
          <p:cNvSpPr txBox="1"/>
          <p:nvPr/>
        </p:nvSpPr>
        <p:spPr>
          <a:xfrm>
            <a:off x="457200" y="1281600"/>
            <a:ext cx="8428680" cy="54720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b="1" strike="noStrike" dirty="0">
                <a:latin typeface="+mj-lt"/>
                <a:ea typeface="Arial"/>
                <a:cs typeface="Arial"/>
                <a:sym typeface="Arial"/>
              </a:rPr>
              <a:t>To test the relationship between Islamic bank performance and the bank specific and macroeconomic </a:t>
            </a:r>
            <a:r>
              <a:rPr lang="en-US" b="1" strike="noStrike" dirty="0" err="1">
                <a:latin typeface="+mj-lt"/>
                <a:ea typeface="Arial"/>
                <a:cs typeface="Arial"/>
                <a:sym typeface="Arial"/>
              </a:rPr>
              <a:t>determinants,following</a:t>
            </a:r>
            <a:r>
              <a:rPr lang="en-US" b="1" strike="noStrike" dirty="0">
                <a:latin typeface="+mj-lt"/>
                <a:ea typeface="Arial"/>
                <a:cs typeface="Arial"/>
                <a:sym typeface="Arial"/>
              </a:rPr>
              <a:t> is the estimated linear regression model:-</a:t>
            </a:r>
            <a:endParaRPr b="1" strike="noStrike" dirty="0">
              <a:latin typeface="+mj-lt"/>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p:nvPr/>
        </p:nvSpPr>
        <p:spPr>
          <a:xfrm>
            <a:off x="540000" y="450000"/>
            <a:ext cx="8640000" cy="63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700" b="1" strike="noStrike" dirty="0">
                <a:latin typeface="+mj-lt"/>
                <a:ea typeface="Arial"/>
                <a:cs typeface="Arial"/>
                <a:sym typeface="Arial"/>
              </a:rPr>
              <a:t>EMPIRICAL FINDINGS</a:t>
            </a:r>
            <a:endParaRPr sz="2700" b="0" strike="noStrike" dirty="0">
              <a:latin typeface="+mj-lt"/>
              <a:ea typeface="Arial"/>
              <a:cs typeface="Arial"/>
              <a:sym typeface="Arial"/>
            </a:endParaRPr>
          </a:p>
        </p:txBody>
      </p:sp>
      <p:sp>
        <p:nvSpPr>
          <p:cNvPr id="122" name="Google Shape;122;p21"/>
          <p:cNvSpPr txBox="1"/>
          <p:nvPr/>
        </p:nvSpPr>
        <p:spPr>
          <a:xfrm>
            <a:off x="540000" y="1350000"/>
            <a:ext cx="9000000" cy="36000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r>
              <a:rPr lang="en-US" sz="2400" b="1" strike="noStrike" dirty="0">
                <a:latin typeface="+mj-lt"/>
                <a:ea typeface="Arial"/>
                <a:cs typeface="Arial"/>
                <a:sym typeface="Arial"/>
              </a:rPr>
              <a:t>Pooled OLS Regression is when we put all the data together and do not make any distinction between cross section and time series and then run a regression over all the data using Ordinary Least </a:t>
            </a:r>
            <a:r>
              <a:rPr lang="en-US" sz="2400" b="1" strike="noStrike" dirty="0" err="1">
                <a:latin typeface="+mj-lt"/>
                <a:ea typeface="Arial"/>
                <a:cs typeface="Arial"/>
                <a:sym typeface="Arial"/>
              </a:rPr>
              <a:t>Squares.Pooled</a:t>
            </a:r>
            <a:r>
              <a:rPr lang="en-US" sz="2400" b="1" strike="noStrike" dirty="0">
                <a:latin typeface="+mj-lt"/>
                <a:ea typeface="Arial"/>
                <a:cs typeface="Arial"/>
                <a:sym typeface="Arial"/>
              </a:rPr>
              <a:t> OLS is often used as rough and ready means of analyzing the </a:t>
            </a:r>
            <a:r>
              <a:rPr lang="en-US" sz="2400" b="1" strike="noStrike" dirty="0" err="1">
                <a:latin typeface="+mj-lt"/>
                <a:ea typeface="Arial"/>
                <a:cs typeface="Arial"/>
                <a:sym typeface="Arial"/>
              </a:rPr>
              <a:t>data.It</a:t>
            </a:r>
            <a:r>
              <a:rPr lang="en-US" sz="2400" b="1" strike="noStrike" dirty="0">
                <a:latin typeface="+mj-lt"/>
                <a:ea typeface="Arial"/>
                <a:cs typeface="Arial"/>
                <a:sym typeface="Arial"/>
              </a:rPr>
              <a:t> is a Simple and quick standard to which more sophisticated regressions can be compared.</a:t>
            </a:r>
            <a:endParaRPr sz="2400" b="1" strike="noStrike" dirty="0">
              <a:latin typeface="+mj-lt"/>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p:nvPr/>
        </p:nvSpPr>
        <p:spPr>
          <a:xfrm>
            <a:off x="685800" y="1371600"/>
            <a:ext cx="8915400" cy="365760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1400" b="1" strike="noStrike" dirty="0" err="1">
                <a:latin typeface="+mj-lt"/>
                <a:ea typeface="Quattrocento Sans"/>
                <a:cs typeface="Quattrocento Sans"/>
                <a:sym typeface="Quattrocento Sans"/>
              </a:rPr>
              <a:t>Resp.var</a:t>
            </a:r>
            <a:r>
              <a:rPr lang="en-US" sz="1400" b="1" strike="noStrike" dirty="0">
                <a:latin typeface="+mj-lt"/>
                <a:ea typeface="Quattrocento Sans"/>
                <a:cs typeface="Quattrocento Sans"/>
                <a:sym typeface="Quattrocento Sans"/>
              </a:rPr>
              <a:t>                                                                     ROA                                                    ROE</a:t>
            </a: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err="1">
                <a:latin typeface="+mj-lt"/>
                <a:ea typeface="Quattrocento Sans"/>
                <a:cs typeface="Quattrocento Sans"/>
                <a:sym typeface="Quattrocento Sans"/>
              </a:rPr>
              <a:t>Exp.Variable</a:t>
            </a:r>
            <a:r>
              <a:rPr lang="en-US" sz="1400" b="1" strike="noStrike" dirty="0">
                <a:latin typeface="+mj-lt"/>
                <a:ea typeface="Quattrocento Sans"/>
                <a:cs typeface="Quattrocento Sans"/>
                <a:sym typeface="Quattrocento Sans"/>
              </a:rPr>
              <a:t>       </a:t>
            </a:r>
            <a:r>
              <a:rPr lang="en-US" sz="1400" b="0" strike="noStrike" dirty="0">
                <a:latin typeface="+mj-lt"/>
                <a:ea typeface="Arial"/>
                <a:cs typeface="Arial"/>
                <a:sym typeface="Arial"/>
              </a:rPr>
              <a:t> </a:t>
            </a:r>
            <a:r>
              <a:rPr lang="en-US" sz="1400" b="1" strike="noStrike" dirty="0">
                <a:latin typeface="+mj-lt"/>
                <a:ea typeface="Quattrocento Sans"/>
                <a:cs typeface="Quattrocento Sans"/>
                <a:sym typeface="Quattrocento Sans"/>
              </a:rPr>
              <a:t>Coefficient    t-Statistic   Prob.       Coefficient        t-Statistic            Prob.</a:t>
            </a:r>
            <a:endParaRPr sz="1400" b="0" strike="noStrike" dirty="0">
              <a:latin typeface="+mj-lt"/>
              <a:ea typeface="Arial"/>
              <a:cs typeface="Arial"/>
              <a:sym typeface="Arial"/>
            </a:endParaRPr>
          </a:p>
          <a:p>
            <a:pPr marL="0" marR="0" lvl="0" indent="0" algn="l" rtl="0">
              <a:spcBef>
                <a:spcPts val="0"/>
              </a:spcBef>
              <a:spcAft>
                <a:spcPts val="0"/>
              </a:spcAft>
              <a:buNone/>
            </a:pP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a:latin typeface="+mj-lt"/>
                <a:ea typeface="Arial"/>
                <a:cs typeface="Arial"/>
                <a:sym typeface="Arial"/>
              </a:rPr>
              <a:t>C                          -155.163              -0.497         0.621        -568.920            -0.950                   0.347</a:t>
            </a: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a:latin typeface="+mj-lt"/>
                <a:ea typeface="Arial"/>
                <a:cs typeface="Arial"/>
                <a:sym typeface="Arial"/>
              </a:rPr>
              <a:t>DUMCRISIS         -6.469                 -0.586         0.561        -12.947              -0.611                   0.545</a:t>
            </a: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a:latin typeface="+mj-lt"/>
                <a:ea typeface="Arial"/>
                <a:cs typeface="Arial"/>
                <a:sym typeface="Arial"/>
              </a:rPr>
              <a:t>DUMTRAN            -14.629              -1.498          0.142        -33.477             -1.786                   0.082*</a:t>
            </a: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a:latin typeface="+mj-lt"/>
                <a:ea typeface="Arial"/>
                <a:cs typeface="Arial"/>
                <a:sym typeface="Arial"/>
              </a:rPr>
              <a:t>LGDP                    12.129                0.380          0.706        50.484               0.825                    0.415</a:t>
            </a: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a:latin typeface="+mj-lt"/>
                <a:ea typeface="Arial"/>
                <a:cs typeface="Arial"/>
                <a:sym typeface="Arial"/>
              </a:rPr>
              <a:t>LFIN                      -0.798                -0.369         0.714          5.334                1.287                   0.206</a:t>
            </a: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a:latin typeface="+mj-lt"/>
                <a:ea typeface="Arial"/>
                <a:cs typeface="Arial"/>
                <a:sym typeface="Arial"/>
              </a:rPr>
              <a:t>LTA                       -11.811               -1.499          0.142        -40.129             -2.655                   0.011**</a:t>
            </a: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a:latin typeface="+mj-lt"/>
                <a:ea typeface="Arial"/>
                <a:cs typeface="Arial"/>
                <a:sym typeface="Arial"/>
              </a:rPr>
              <a:t>LLEV                     5.798                  1.367          0.179         11.695               1.437                   0.159</a:t>
            </a: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a:latin typeface="+mj-lt"/>
                <a:ea typeface="Arial"/>
                <a:cs typeface="Arial"/>
                <a:sym typeface="Arial"/>
              </a:rPr>
              <a:t>LEQ                      19.552                 2.649         0.012**       55.811              3.942                    0.001***</a:t>
            </a: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a:latin typeface="+mj-lt"/>
                <a:ea typeface="Arial"/>
                <a:cs typeface="Arial"/>
                <a:sym typeface="Arial"/>
              </a:rPr>
              <a:t>LOHE                   -6.643                - 1.827         0.075*       -18.571             -2.662                    0.011**</a:t>
            </a:r>
            <a:endParaRPr sz="1400" b="0" strike="noStrike" dirty="0">
              <a:latin typeface="+mj-lt"/>
              <a:ea typeface="Arial"/>
              <a:cs typeface="Arial"/>
              <a:sym typeface="Arial"/>
            </a:endParaRPr>
          </a:p>
          <a:p>
            <a:pPr marL="0" marR="0" lvl="0" indent="0" algn="l" rtl="0">
              <a:spcBef>
                <a:spcPts val="0"/>
              </a:spcBef>
              <a:spcAft>
                <a:spcPts val="0"/>
              </a:spcAft>
              <a:buNone/>
            </a:pP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a:latin typeface="+mj-lt"/>
                <a:ea typeface="Arial"/>
                <a:cs typeface="Arial"/>
                <a:sym typeface="Arial"/>
              </a:rPr>
              <a:t>R-squared  </a:t>
            </a:r>
            <a:r>
              <a:rPr lang="en-US" sz="1400" b="0" strike="noStrike" dirty="0">
                <a:latin typeface="+mj-lt"/>
                <a:ea typeface="Arial"/>
                <a:cs typeface="Arial"/>
                <a:sym typeface="Arial"/>
              </a:rPr>
              <a:t>                        </a:t>
            </a:r>
            <a:r>
              <a:rPr lang="en-US" sz="1400" b="1" strike="noStrike" dirty="0">
                <a:latin typeface="+mj-lt"/>
                <a:ea typeface="Arial"/>
                <a:cs typeface="Arial"/>
                <a:sym typeface="Arial"/>
              </a:rPr>
              <a:t>  0.251                                                                           0.451</a:t>
            </a: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a:latin typeface="+mj-lt"/>
                <a:ea typeface="Arial"/>
                <a:cs typeface="Arial"/>
                <a:sym typeface="Arial"/>
              </a:rPr>
              <a:t>Adjusted R-squared            0.098                                                                           0.339</a:t>
            </a: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a:latin typeface="+mj-lt"/>
                <a:ea typeface="Arial"/>
                <a:cs typeface="Arial"/>
                <a:sym typeface="Arial"/>
              </a:rPr>
              <a:t>F-statistic                            1.634                                                                           4.008</a:t>
            </a:r>
            <a:endParaRPr sz="1400" b="0" strike="noStrike" dirty="0">
              <a:latin typeface="+mj-lt"/>
              <a:ea typeface="Arial"/>
              <a:cs typeface="Arial"/>
              <a:sym typeface="Arial"/>
            </a:endParaRPr>
          </a:p>
          <a:p>
            <a:pPr marL="0" marR="0" lvl="0" indent="0" algn="l" rtl="0">
              <a:spcBef>
                <a:spcPts val="0"/>
              </a:spcBef>
              <a:spcAft>
                <a:spcPts val="0"/>
              </a:spcAft>
              <a:buNone/>
            </a:pPr>
            <a:r>
              <a:rPr lang="en-US" sz="1400" b="1" strike="noStrike" dirty="0">
                <a:latin typeface="+mj-lt"/>
                <a:ea typeface="Arial"/>
                <a:cs typeface="Arial"/>
                <a:sym typeface="Arial"/>
              </a:rPr>
              <a:t>Prob(F-statistic)                  0.147                                                                           0.002***</a:t>
            </a:r>
            <a:endParaRPr sz="1400" b="0" strike="noStrike" dirty="0">
              <a:latin typeface="+mj-lt"/>
              <a:ea typeface="Arial"/>
              <a:cs typeface="Arial"/>
              <a:sym typeface="Arial"/>
            </a:endParaRPr>
          </a:p>
        </p:txBody>
      </p:sp>
      <p:cxnSp>
        <p:nvCxnSpPr>
          <p:cNvPr id="128" name="Google Shape;128;p22"/>
          <p:cNvCxnSpPr/>
          <p:nvPr/>
        </p:nvCxnSpPr>
        <p:spPr>
          <a:xfrm>
            <a:off x="3429000" y="1600200"/>
            <a:ext cx="0" cy="2514600"/>
          </a:xfrm>
          <a:prstGeom prst="straightConnector1">
            <a:avLst/>
          </a:prstGeom>
          <a:noFill/>
          <a:ln w="57225" cap="flat" cmpd="sng">
            <a:solidFill>
              <a:srgbClr val="000000"/>
            </a:solidFill>
            <a:prstDash val="solid"/>
            <a:round/>
            <a:headEnd type="none" w="sm" len="sm"/>
            <a:tailEnd type="none" w="sm" len="sm"/>
          </a:ln>
        </p:spPr>
      </p:cxnSp>
      <p:cxnSp>
        <p:nvCxnSpPr>
          <p:cNvPr id="129" name="Google Shape;129;p22"/>
          <p:cNvCxnSpPr/>
          <p:nvPr/>
        </p:nvCxnSpPr>
        <p:spPr>
          <a:xfrm>
            <a:off x="4343400" y="1600200"/>
            <a:ext cx="0" cy="2514600"/>
          </a:xfrm>
          <a:prstGeom prst="straightConnector1">
            <a:avLst/>
          </a:prstGeom>
          <a:noFill/>
          <a:ln w="57225" cap="flat" cmpd="sng">
            <a:solidFill>
              <a:srgbClr val="000000"/>
            </a:solidFill>
            <a:prstDash val="solid"/>
            <a:round/>
            <a:headEnd type="none" w="sm" len="sm"/>
            <a:tailEnd type="none" w="sm" len="sm"/>
          </a:ln>
        </p:spPr>
      </p:cxnSp>
      <p:cxnSp>
        <p:nvCxnSpPr>
          <p:cNvPr id="130" name="Google Shape;130;p22"/>
          <p:cNvCxnSpPr/>
          <p:nvPr/>
        </p:nvCxnSpPr>
        <p:spPr>
          <a:xfrm>
            <a:off x="2057400" y="1600200"/>
            <a:ext cx="0" cy="2514600"/>
          </a:xfrm>
          <a:prstGeom prst="straightConnector1">
            <a:avLst/>
          </a:prstGeom>
          <a:noFill/>
          <a:ln w="57225" cap="flat" cmpd="sng">
            <a:solidFill>
              <a:srgbClr val="000000"/>
            </a:solidFill>
            <a:prstDash val="solid"/>
            <a:round/>
            <a:headEnd type="none" w="sm" len="sm"/>
            <a:tailEnd type="none" w="sm" len="sm"/>
          </a:ln>
        </p:spPr>
      </p:cxnSp>
      <p:cxnSp>
        <p:nvCxnSpPr>
          <p:cNvPr id="131" name="Google Shape;131;p22"/>
          <p:cNvCxnSpPr/>
          <p:nvPr/>
        </p:nvCxnSpPr>
        <p:spPr>
          <a:xfrm>
            <a:off x="5257800" y="1600200"/>
            <a:ext cx="0" cy="2514600"/>
          </a:xfrm>
          <a:prstGeom prst="straightConnector1">
            <a:avLst/>
          </a:prstGeom>
          <a:noFill/>
          <a:ln w="57225" cap="flat" cmpd="sng">
            <a:solidFill>
              <a:srgbClr val="000000"/>
            </a:solidFill>
            <a:prstDash val="solid"/>
            <a:round/>
            <a:headEnd type="none" w="sm" len="sm"/>
            <a:tailEnd type="none" w="sm" len="sm"/>
          </a:ln>
        </p:spPr>
      </p:cxnSp>
      <p:cxnSp>
        <p:nvCxnSpPr>
          <p:cNvPr id="132" name="Google Shape;132;p22"/>
          <p:cNvCxnSpPr/>
          <p:nvPr/>
        </p:nvCxnSpPr>
        <p:spPr>
          <a:xfrm>
            <a:off x="6400800" y="1600200"/>
            <a:ext cx="0" cy="2514600"/>
          </a:xfrm>
          <a:prstGeom prst="straightConnector1">
            <a:avLst/>
          </a:prstGeom>
          <a:noFill/>
          <a:ln w="57225" cap="flat" cmpd="sng">
            <a:solidFill>
              <a:srgbClr val="000000"/>
            </a:solidFill>
            <a:prstDash val="solid"/>
            <a:round/>
            <a:headEnd type="none" w="sm" len="sm"/>
            <a:tailEnd type="none" w="sm" len="sm"/>
          </a:ln>
        </p:spPr>
      </p:cxnSp>
      <p:cxnSp>
        <p:nvCxnSpPr>
          <p:cNvPr id="133" name="Google Shape;133;p22"/>
          <p:cNvCxnSpPr/>
          <p:nvPr/>
        </p:nvCxnSpPr>
        <p:spPr>
          <a:xfrm>
            <a:off x="7772400" y="1600200"/>
            <a:ext cx="0" cy="2514600"/>
          </a:xfrm>
          <a:prstGeom prst="straightConnector1">
            <a:avLst/>
          </a:prstGeom>
          <a:noFill/>
          <a:ln w="57225" cap="flat" cmpd="sng">
            <a:solidFill>
              <a:srgbClr val="000000"/>
            </a:solidFill>
            <a:prstDash val="solid"/>
            <a:round/>
            <a:headEnd type="none" w="sm" len="sm"/>
            <a:tailEnd type="none" w="sm" len="sm"/>
          </a:ln>
        </p:spPr>
      </p:cxnSp>
      <p:cxnSp>
        <p:nvCxnSpPr>
          <p:cNvPr id="134" name="Google Shape;134;p22"/>
          <p:cNvCxnSpPr/>
          <p:nvPr/>
        </p:nvCxnSpPr>
        <p:spPr>
          <a:xfrm>
            <a:off x="685800" y="4114800"/>
            <a:ext cx="8686800" cy="0"/>
          </a:xfrm>
          <a:prstGeom prst="straightConnector1">
            <a:avLst/>
          </a:prstGeom>
          <a:noFill/>
          <a:ln w="57225" cap="flat" cmpd="sng">
            <a:solidFill>
              <a:srgbClr val="000000"/>
            </a:solidFill>
            <a:prstDash val="solid"/>
            <a:round/>
            <a:headEnd type="none" w="sm" len="sm"/>
            <a:tailEnd type="none" w="sm" len="sm"/>
          </a:ln>
        </p:spPr>
      </p:cxnSp>
      <p:cxnSp>
        <p:nvCxnSpPr>
          <p:cNvPr id="135" name="Google Shape;135;p22"/>
          <p:cNvCxnSpPr/>
          <p:nvPr/>
        </p:nvCxnSpPr>
        <p:spPr>
          <a:xfrm>
            <a:off x="685800" y="2057400"/>
            <a:ext cx="8686800" cy="0"/>
          </a:xfrm>
          <a:prstGeom prst="straightConnector1">
            <a:avLst/>
          </a:prstGeom>
          <a:noFill/>
          <a:ln w="57225" cap="flat" cmpd="sng">
            <a:solidFill>
              <a:srgbClr val="000000"/>
            </a:solidFill>
            <a:prstDash val="solid"/>
            <a:round/>
            <a:headEnd type="none" w="sm" len="sm"/>
            <a:tailEnd type="none" w="sm" len="sm"/>
          </a:ln>
        </p:spPr>
      </p:cxnSp>
      <p:sp>
        <p:nvSpPr>
          <p:cNvPr id="136" name="Google Shape;136;p22"/>
          <p:cNvSpPr txBox="1"/>
          <p:nvPr/>
        </p:nvSpPr>
        <p:spPr>
          <a:xfrm>
            <a:off x="540000" y="450000"/>
            <a:ext cx="8640000" cy="63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700" b="1" strike="noStrike" dirty="0">
                <a:latin typeface="+mj-lt"/>
                <a:ea typeface="Arial"/>
                <a:cs typeface="Arial"/>
                <a:sym typeface="Arial"/>
              </a:rPr>
              <a:t>POOLED OLS REGRESSION</a:t>
            </a:r>
            <a:endParaRPr sz="2700" b="0" strike="noStrike" dirty="0">
              <a:latin typeface="+mj-lt"/>
              <a:ea typeface="Arial"/>
              <a:cs typeface="Arial"/>
              <a:sym typeface="Arial"/>
            </a:endParaRPr>
          </a:p>
        </p:txBody>
      </p:sp>
      <p:cxnSp>
        <p:nvCxnSpPr>
          <p:cNvPr id="137" name="Google Shape;137;p22"/>
          <p:cNvCxnSpPr/>
          <p:nvPr/>
        </p:nvCxnSpPr>
        <p:spPr>
          <a:xfrm>
            <a:off x="685800" y="1600200"/>
            <a:ext cx="8686800" cy="0"/>
          </a:xfrm>
          <a:prstGeom prst="straightConnector1">
            <a:avLst/>
          </a:prstGeom>
          <a:noFill/>
          <a:ln w="9525" cap="flat" cmpd="sng">
            <a:solidFill>
              <a:srgbClr val="000000"/>
            </a:solidFill>
            <a:prstDash val="solid"/>
            <a:round/>
            <a:headEnd type="none" w="sm" len="sm"/>
            <a:tailEnd type="none" w="sm" len="sm"/>
          </a:ln>
        </p:spPr>
      </p:cxnSp>
      <p:cxnSp>
        <p:nvCxnSpPr>
          <p:cNvPr id="138" name="Google Shape;138;p22"/>
          <p:cNvCxnSpPr/>
          <p:nvPr/>
        </p:nvCxnSpPr>
        <p:spPr>
          <a:xfrm>
            <a:off x="685800" y="1600200"/>
            <a:ext cx="0" cy="3429000"/>
          </a:xfrm>
          <a:prstGeom prst="straightConnector1">
            <a:avLst/>
          </a:prstGeom>
          <a:noFill/>
          <a:ln w="57225" cap="flat" cmpd="sng">
            <a:solidFill>
              <a:srgbClr val="000000"/>
            </a:solidFill>
            <a:prstDash val="solid"/>
            <a:round/>
            <a:headEnd type="none" w="sm" len="sm"/>
            <a:tailEnd type="none" w="sm" len="sm"/>
          </a:ln>
        </p:spPr>
      </p:cxnSp>
      <p:cxnSp>
        <p:nvCxnSpPr>
          <p:cNvPr id="139" name="Google Shape;139;p22"/>
          <p:cNvCxnSpPr/>
          <p:nvPr/>
        </p:nvCxnSpPr>
        <p:spPr>
          <a:xfrm>
            <a:off x="9372600" y="1600200"/>
            <a:ext cx="0" cy="3429000"/>
          </a:xfrm>
          <a:prstGeom prst="straightConnector1">
            <a:avLst/>
          </a:prstGeom>
          <a:noFill/>
          <a:ln w="57225" cap="flat" cmpd="sng">
            <a:solidFill>
              <a:srgbClr val="000000"/>
            </a:solidFill>
            <a:prstDash val="solid"/>
            <a:round/>
            <a:headEnd type="none" w="sm" len="sm"/>
            <a:tailEnd type="none" w="sm" len="sm"/>
          </a:ln>
        </p:spPr>
      </p:cxnSp>
      <p:cxnSp>
        <p:nvCxnSpPr>
          <p:cNvPr id="140" name="Google Shape;140;p22"/>
          <p:cNvCxnSpPr/>
          <p:nvPr/>
        </p:nvCxnSpPr>
        <p:spPr>
          <a:xfrm>
            <a:off x="685800" y="5029200"/>
            <a:ext cx="8686800" cy="0"/>
          </a:xfrm>
          <a:prstGeom prst="straightConnector1">
            <a:avLst/>
          </a:prstGeom>
          <a:noFill/>
          <a:ln w="57225" cap="flat" cmpd="sng">
            <a:solidFill>
              <a:srgbClr val="000000"/>
            </a:solidFill>
            <a:prstDash val="solid"/>
            <a:round/>
            <a:headEnd type="none" w="sm" len="sm"/>
            <a:tailEnd type="none" w="sm" len="sm"/>
          </a:ln>
        </p:spPr>
      </p:cxnSp>
      <p:sp>
        <p:nvSpPr>
          <p:cNvPr id="141" name="Google Shape;141;p22"/>
          <p:cNvSpPr txBox="1"/>
          <p:nvPr/>
        </p:nvSpPr>
        <p:spPr>
          <a:xfrm>
            <a:off x="422640" y="1112760"/>
            <a:ext cx="7349760" cy="34596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1600" b="1" strike="noStrike" dirty="0">
                <a:latin typeface="+mj-lt"/>
                <a:ea typeface="Arial"/>
                <a:cs typeface="Arial"/>
                <a:sym typeface="Arial"/>
              </a:rPr>
              <a:t>Note: * significant at α=10%; ** significant at α=5%; *** significant at α=1% </a:t>
            </a:r>
            <a:endParaRPr sz="1600" b="1" strike="noStrike" dirty="0">
              <a:latin typeface="+mj-lt"/>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3"/>
          <p:cNvSpPr txBox="1"/>
          <p:nvPr/>
        </p:nvSpPr>
        <p:spPr>
          <a:xfrm>
            <a:off x="457200" y="1127160"/>
            <a:ext cx="9372600" cy="390204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1400" b="1" strike="noStrike">
                <a:latin typeface="Arial"/>
                <a:ea typeface="Arial"/>
                <a:cs typeface="Arial"/>
                <a:sym typeface="Arial"/>
              </a:rPr>
              <a:t>Dependent Variable                                 ROA                                                     ROE</a:t>
            </a:r>
            <a:endParaRPr sz="1400" b="0" strike="noStrike">
              <a:latin typeface="Arial"/>
              <a:ea typeface="Arial"/>
              <a:cs typeface="Arial"/>
              <a:sym typeface="Arial"/>
            </a:endParaRPr>
          </a:p>
          <a:p>
            <a:pPr marL="0" marR="0" lvl="0" indent="0" algn="l" rtl="0">
              <a:spcBef>
                <a:spcPts val="0"/>
              </a:spcBef>
              <a:spcAft>
                <a:spcPts val="0"/>
              </a:spcAft>
              <a:buNone/>
            </a:pPr>
            <a:r>
              <a:rPr lang="en-US" sz="1400" b="1" strike="noStrike">
                <a:latin typeface="Arial"/>
                <a:ea typeface="Arial"/>
                <a:cs typeface="Arial"/>
                <a:sym typeface="Arial"/>
              </a:rPr>
              <a:t>Independent Variable</a:t>
            </a:r>
            <a:r>
              <a:rPr lang="en-US" sz="1400" b="0" strike="noStrike">
                <a:latin typeface="Arial"/>
                <a:ea typeface="Arial"/>
                <a:cs typeface="Arial"/>
                <a:sym typeface="Arial"/>
              </a:rPr>
              <a:t>    Coefficient    t-Statistic      Prob.                     Coefficient    t-Statistic      Prob.</a:t>
            </a:r>
            <a:endParaRPr sz="1400" b="0" strike="noStrike">
              <a:latin typeface="Arial"/>
              <a:ea typeface="Arial"/>
              <a:cs typeface="Arial"/>
              <a:sym typeface="Arial"/>
            </a:endParaRPr>
          </a:p>
          <a:p>
            <a:pPr marL="0" marR="0" lvl="0" indent="0" algn="l" rtl="0">
              <a:spcBef>
                <a:spcPts val="0"/>
              </a:spcBef>
              <a:spcAft>
                <a:spcPts val="0"/>
              </a:spcAft>
              <a:buNone/>
            </a:pPr>
            <a:r>
              <a:rPr lang="en-US" sz="1400" b="0" strike="noStrike">
                <a:latin typeface="Arial"/>
                <a:ea typeface="Arial"/>
                <a:cs typeface="Arial"/>
                <a:sym typeface="Arial"/>
              </a:rPr>
              <a:t>C                                       6.169           0.042          0.967                      -246.065        -0.854         0.398</a:t>
            </a:r>
            <a:endParaRPr sz="1400" b="0" strike="noStrike">
              <a:latin typeface="Arial"/>
              <a:ea typeface="Arial"/>
              <a:cs typeface="Arial"/>
              <a:sym typeface="Arial"/>
            </a:endParaRPr>
          </a:p>
          <a:p>
            <a:pPr marL="0" marR="0" lvl="0" indent="0" algn="l" rtl="0">
              <a:spcBef>
                <a:spcPts val="0"/>
              </a:spcBef>
              <a:spcAft>
                <a:spcPts val="0"/>
              </a:spcAft>
              <a:buNone/>
            </a:pPr>
            <a:r>
              <a:rPr lang="en-US" sz="1400" b="0" strike="noStrike">
                <a:latin typeface="Arial"/>
                <a:ea typeface="Arial"/>
                <a:cs typeface="Arial"/>
                <a:sym typeface="Arial"/>
              </a:rPr>
              <a:t>DUMTRAN                      -10.159         -1.654         0.106                       -24.533         -2.048          0.047**</a:t>
            </a:r>
            <a:endParaRPr sz="1400" b="0" strike="noStrike">
              <a:latin typeface="Arial"/>
              <a:ea typeface="Arial"/>
              <a:cs typeface="Arial"/>
              <a:sym typeface="Arial"/>
            </a:endParaRPr>
          </a:p>
          <a:p>
            <a:pPr marL="0" marR="0" lvl="0" indent="0" algn="l" rtl="0">
              <a:spcBef>
                <a:spcPts val="0"/>
              </a:spcBef>
              <a:spcAft>
                <a:spcPts val="0"/>
              </a:spcAft>
              <a:buNone/>
            </a:pPr>
            <a:r>
              <a:rPr lang="en-US" sz="1400" b="0" strike="noStrike">
                <a:latin typeface="Arial"/>
                <a:ea typeface="Arial"/>
                <a:cs typeface="Arial"/>
                <a:sym typeface="Arial"/>
              </a:rPr>
              <a:t>LGDP                              -4.254           -0.275         0.785                        17.695          0.586          0.561</a:t>
            </a:r>
            <a:endParaRPr sz="1400" b="0" strike="noStrike">
              <a:latin typeface="Arial"/>
              <a:ea typeface="Arial"/>
              <a:cs typeface="Arial"/>
              <a:sym typeface="Arial"/>
            </a:endParaRPr>
          </a:p>
          <a:p>
            <a:pPr marL="0" marR="0" lvl="0" indent="0" algn="l" rtl="0">
              <a:spcBef>
                <a:spcPts val="0"/>
              </a:spcBef>
              <a:spcAft>
                <a:spcPts val="0"/>
              </a:spcAft>
              <a:buNone/>
            </a:pPr>
            <a:r>
              <a:rPr lang="en-US" sz="1400" b="0" strike="noStrike">
                <a:latin typeface="Arial"/>
                <a:ea typeface="Arial"/>
                <a:cs typeface="Arial"/>
                <a:sym typeface="Arial"/>
              </a:rPr>
              <a:t>LFIN                                -0.841           -0.387         0.701                        5.249            1.239          0.223</a:t>
            </a:r>
            <a:endParaRPr sz="1400" b="0" strike="noStrike">
              <a:latin typeface="Arial"/>
              <a:ea typeface="Arial"/>
              <a:cs typeface="Arial"/>
              <a:sym typeface="Arial"/>
            </a:endParaRPr>
          </a:p>
          <a:p>
            <a:pPr marL="0" marR="0" lvl="0" indent="0" algn="l" rtl="0">
              <a:spcBef>
                <a:spcPts val="0"/>
              </a:spcBef>
              <a:spcAft>
                <a:spcPts val="0"/>
              </a:spcAft>
              <a:buNone/>
            </a:pPr>
            <a:r>
              <a:rPr lang="en-US" sz="1400" b="0" strike="noStrike">
                <a:latin typeface="Arial"/>
                <a:ea typeface="Arial"/>
                <a:cs typeface="Arial"/>
                <a:sym typeface="Arial"/>
              </a:rPr>
              <a:t>LTA                                -12.294           -1.559         0.127                      -41.095          -2.673          0.011**</a:t>
            </a:r>
            <a:endParaRPr sz="1400" b="0" strike="noStrike">
              <a:latin typeface="Arial"/>
              <a:ea typeface="Arial"/>
              <a:cs typeface="Arial"/>
              <a:sym typeface="Arial"/>
            </a:endParaRPr>
          </a:p>
          <a:p>
            <a:pPr marL="0" marR="0" lvl="0" indent="0" algn="l" rtl="0">
              <a:spcBef>
                <a:spcPts val="0"/>
              </a:spcBef>
              <a:spcAft>
                <a:spcPts val="0"/>
              </a:spcAft>
              <a:buNone/>
            </a:pPr>
            <a:r>
              <a:rPr lang="en-US" sz="1400" b="0" strike="noStrike">
                <a:latin typeface="Arial"/>
                <a:ea typeface="Arial"/>
                <a:cs typeface="Arial"/>
                <a:sym typeface="Arial"/>
              </a:rPr>
              <a:t>LLEV  </a:t>
            </a:r>
            <a:endParaRPr sz="1400" b="0" strike="noStrike">
              <a:latin typeface="Arial"/>
              <a:ea typeface="Arial"/>
              <a:cs typeface="Arial"/>
              <a:sym typeface="Arial"/>
            </a:endParaRPr>
          </a:p>
          <a:p>
            <a:pPr marL="0" marR="0" lvl="0" indent="0" algn="l" rtl="0">
              <a:spcBef>
                <a:spcPts val="0"/>
              </a:spcBef>
              <a:spcAft>
                <a:spcPts val="0"/>
              </a:spcAft>
              <a:buNone/>
            </a:pPr>
            <a:r>
              <a:rPr lang="en-US" sz="1400" b="0" strike="noStrike">
                <a:latin typeface="Arial"/>
                <a:ea typeface="Arial"/>
                <a:cs typeface="Arial"/>
                <a:sym typeface="Arial"/>
              </a:rPr>
              <a:t>LEQ                                19.908               2.690      0.010**                     56.523          3.915           0.001***</a:t>
            </a:r>
            <a:endParaRPr sz="1400" b="0" strike="noStrike">
              <a:latin typeface="Arial"/>
              <a:ea typeface="Arial"/>
              <a:cs typeface="Arial"/>
              <a:sym typeface="Arial"/>
            </a:endParaRPr>
          </a:p>
          <a:p>
            <a:pPr marL="0" marR="0" lvl="0" indent="0" algn="l" rtl="0">
              <a:spcBef>
                <a:spcPts val="0"/>
              </a:spcBef>
              <a:spcAft>
                <a:spcPts val="0"/>
              </a:spcAft>
              <a:buNone/>
            </a:pPr>
            <a:r>
              <a:rPr lang="en-US" sz="1400" b="0" strike="noStrike">
                <a:latin typeface="Arial"/>
                <a:ea typeface="Arial"/>
                <a:cs typeface="Arial"/>
                <a:sym typeface="Arial"/>
              </a:rPr>
              <a:t>LOHE                            -6.803             -1.865         0.069*                     -18.891         -2.654          0.011**</a:t>
            </a:r>
            <a:endParaRPr sz="1400" b="0" strike="noStrike">
              <a:latin typeface="Arial"/>
              <a:ea typeface="Arial"/>
              <a:cs typeface="Arial"/>
              <a:sym typeface="Arial"/>
            </a:endParaRPr>
          </a:p>
          <a:p>
            <a:pPr marL="0" marR="0" lvl="0" indent="0" algn="l" rtl="0">
              <a:spcBef>
                <a:spcPts val="0"/>
              </a:spcBef>
              <a:spcAft>
                <a:spcPts val="0"/>
              </a:spcAft>
              <a:buNone/>
            </a:pPr>
            <a:endParaRPr sz="1400" b="0" strike="noStrike">
              <a:latin typeface="Arial"/>
              <a:ea typeface="Arial"/>
              <a:cs typeface="Arial"/>
              <a:sym typeface="Arial"/>
            </a:endParaRPr>
          </a:p>
          <a:p>
            <a:pPr marL="0" marR="0" lvl="0" indent="0" algn="l" rtl="0">
              <a:spcBef>
                <a:spcPts val="0"/>
              </a:spcBef>
              <a:spcAft>
                <a:spcPts val="0"/>
              </a:spcAft>
              <a:buNone/>
            </a:pPr>
            <a:endParaRPr sz="1400" b="0" strike="noStrike">
              <a:latin typeface="Arial"/>
              <a:ea typeface="Arial"/>
              <a:cs typeface="Arial"/>
              <a:sym typeface="Arial"/>
            </a:endParaRPr>
          </a:p>
          <a:p>
            <a:pPr marL="0" marR="0" lvl="0" indent="0" algn="l" rtl="0">
              <a:spcBef>
                <a:spcPts val="0"/>
              </a:spcBef>
              <a:spcAft>
                <a:spcPts val="0"/>
              </a:spcAft>
              <a:buNone/>
            </a:pPr>
            <a:r>
              <a:rPr lang="en-US" sz="1400" b="0" strike="noStrike">
                <a:latin typeface="Arial"/>
                <a:ea typeface="Arial"/>
                <a:cs typeface="Arial"/>
                <a:sym typeface="Arial"/>
              </a:rPr>
              <a:t>R-squared                                           0.244                                                                0.446</a:t>
            </a:r>
            <a:endParaRPr sz="1400" b="0" strike="noStrike">
              <a:latin typeface="Arial"/>
              <a:ea typeface="Arial"/>
              <a:cs typeface="Arial"/>
              <a:sym typeface="Arial"/>
            </a:endParaRPr>
          </a:p>
          <a:p>
            <a:pPr marL="0" marR="0" lvl="0" indent="0" algn="l" rtl="0">
              <a:spcBef>
                <a:spcPts val="0"/>
              </a:spcBef>
              <a:spcAft>
                <a:spcPts val="0"/>
              </a:spcAft>
              <a:buNone/>
            </a:pPr>
            <a:r>
              <a:rPr lang="en-US" sz="1400" b="0" strike="noStrike">
                <a:latin typeface="Arial"/>
                <a:ea typeface="Arial"/>
                <a:cs typeface="Arial"/>
                <a:sym typeface="Arial"/>
              </a:rPr>
              <a:t>Adjusted R-squared                            0.112                                                                0.349</a:t>
            </a:r>
            <a:endParaRPr sz="1400" b="0" strike="noStrike">
              <a:latin typeface="Arial"/>
              <a:ea typeface="Arial"/>
              <a:cs typeface="Arial"/>
              <a:sym typeface="Arial"/>
            </a:endParaRPr>
          </a:p>
          <a:p>
            <a:pPr marL="0" marR="0" lvl="0" indent="0" algn="l" rtl="0">
              <a:spcBef>
                <a:spcPts val="0"/>
              </a:spcBef>
              <a:spcAft>
                <a:spcPts val="0"/>
              </a:spcAft>
              <a:buNone/>
            </a:pPr>
            <a:r>
              <a:rPr lang="en-US" sz="1400" b="0" strike="noStrike">
                <a:latin typeface="Arial"/>
                <a:ea typeface="Arial"/>
                <a:cs typeface="Arial"/>
                <a:sym typeface="Arial"/>
              </a:rPr>
              <a:t>F-statistic                                            1.848                                                                4.599</a:t>
            </a:r>
            <a:endParaRPr sz="1400" b="0" strike="noStrike">
              <a:latin typeface="Arial"/>
              <a:ea typeface="Arial"/>
              <a:cs typeface="Arial"/>
              <a:sym typeface="Arial"/>
            </a:endParaRPr>
          </a:p>
          <a:p>
            <a:pPr marL="0" marR="0" lvl="0" indent="0" algn="l" rtl="0">
              <a:spcBef>
                <a:spcPts val="0"/>
              </a:spcBef>
              <a:spcAft>
                <a:spcPts val="0"/>
              </a:spcAft>
              <a:buNone/>
            </a:pPr>
            <a:r>
              <a:rPr lang="en-US" sz="1400" b="0" strike="noStrike">
                <a:latin typeface="Arial"/>
                <a:ea typeface="Arial"/>
                <a:cs typeface="Arial"/>
                <a:sym typeface="Arial"/>
              </a:rPr>
              <a:t>Prob(F-statistic)                                  0.105                                                                0.001*** </a:t>
            </a:r>
            <a:endParaRPr sz="1400" b="0" strike="noStrike">
              <a:latin typeface="Arial"/>
              <a:ea typeface="Arial"/>
              <a:cs typeface="Arial"/>
              <a:sym typeface="Arial"/>
            </a:endParaRPr>
          </a:p>
        </p:txBody>
      </p:sp>
      <p:sp>
        <p:nvSpPr>
          <p:cNvPr id="147" name="Google Shape;147;p23"/>
          <p:cNvSpPr txBox="1"/>
          <p:nvPr/>
        </p:nvSpPr>
        <p:spPr>
          <a:xfrm>
            <a:off x="2286000" y="2514600"/>
            <a:ext cx="6858000" cy="34596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1400" b="0" strike="noStrike">
                <a:latin typeface="Arial"/>
                <a:ea typeface="Arial"/>
                <a:cs typeface="Arial"/>
                <a:sym typeface="Arial"/>
              </a:rPr>
              <a:t>   6.094              1.438         0.158                       12.286           1.486          0.145 </a:t>
            </a:r>
            <a:endParaRPr sz="1400" b="0" strike="noStrike">
              <a:latin typeface="Arial"/>
              <a:ea typeface="Arial"/>
              <a:cs typeface="Arial"/>
              <a:sym typeface="Arial"/>
            </a:endParaRPr>
          </a:p>
        </p:txBody>
      </p:sp>
      <p:sp>
        <p:nvSpPr>
          <p:cNvPr id="148" name="Google Shape;148;p23"/>
          <p:cNvSpPr txBox="1"/>
          <p:nvPr/>
        </p:nvSpPr>
        <p:spPr>
          <a:xfrm>
            <a:off x="540000" y="450000"/>
            <a:ext cx="8640000" cy="63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700" b="1" strike="noStrike">
                <a:latin typeface="Arial"/>
                <a:ea typeface="Arial"/>
                <a:cs typeface="Arial"/>
                <a:sym typeface="Arial"/>
              </a:rPr>
              <a:t>RANDOM EFFECTS MODEL</a:t>
            </a:r>
            <a:endParaRPr sz="2700" b="0" strike="noStrike">
              <a:latin typeface="Arial"/>
              <a:ea typeface="Arial"/>
              <a:cs typeface="Arial"/>
              <a:sym typeface="Arial"/>
            </a:endParaRPr>
          </a:p>
        </p:txBody>
      </p:sp>
      <p:cxnSp>
        <p:nvCxnSpPr>
          <p:cNvPr id="149" name="Google Shape;149;p23"/>
          <p:cNvCxnSpPr/>
          <p:nvPr/>
        </p:nvCxnSpPr>
        <p:spPr>
          <a:xfrm>
            <a:off x="457200" y="1600200"/>
            <a:ext cx="8686800" cy="0"/>
          </a:xfrm>
          <a:prstGeom prst="straightConnector1">
            <a:avLst/>
          </a:prstGeom>
          <a:noFill/>
          <a:ln w="57225" cap="flat" cmpd="sng">
            <a:solidFill>
              <a:srgbClr val="000000"/>
            </a:solidFill>
            <a:prstDash val="solid"/>
            <a:round/>
            <a:headEnd type="none" w="sm" len="sm"/>
            <a:tailEnd type="none" w="sm" len="sm"/>
          </a:ln>
        </p:spPr>
      </p:cxnSp>
      <p:cxnSp>
        <p:nvCxnSpPr>
          <p:cNvPr id="150" name="Google Shape;150;p23"/>
          <p:cNvCxnSpPr/>
          <p:nvPr/>
        </p:nvCxnSpPr>
        <p:spPr>
          <a:xfrm>
            <a:off x="3429000" y="1371600"/>
            <a:ext cx="0" cy="2057400"/>
          </a:xfrm>
          <a:prstGeom prst="straightConnector1">
            <a:avLst/>
          </a:prstGeom>
          <a:noFill/>
          <a:ln w="57225" cap="flat" cmpd="sng">
            <a:solidFill>
              <a:srgbClr val="000000"/>
            </a:solidFill>
            <a:prstDash val="solid"/>
            <a:round/>
            <a:headEnd type="none" w="sm" len="sm"/>
            <a:tailEnd type="none" w="sm" len="sm"/>
          </a:ln>
        </p:spPr>
      </p:cxnSp>
      <p:cxnSp>
        <p:nvCxnSpPr>
          <p:cNvPr id="151" name="Google Shape;151;p23"/>
          <p:cNvCxnSpPr/>
          <p:nvPr/>
        </p:nvCxnSpPr>
        <p:spPr>
          <a:xfrm>
            <a:off x="4343400" y="1371600"/>
            <a:ext cx="0" cy="2057400"/>
          </a:xfrm>
          <a:prstGeom prst="straightConnector1">
            <a:avLst/>
          </a:prstGeom>
          <a:noFill/>
          <a:ln w="57225" cap="flat" cmpd="sng">
            <a:solidFill>
              <a:srgbClr val="000000"/>
            </a:solidFill>
            <a:prstDash val="solid"/>
            <a:round/>
            <a:headEnd type="none" w="sm" len="sm"/>
            <a:tailEnd type="none" w="sm" len="sm"/>
          </a:ln>
        </p:spPr>
      </p:cxnSp>
      <p:cxnSp>
        <p:nvCxnSpPr>
          <p:cNvPr id="152" name="Google Shape;152;p23"/>
          <p:cNvCxnSpPr/>
          <p:nvPr/>
        </p:nvCxnSpPr>
        <p:spPr>
          <a:xfrm>
            <a:off x="7086600" y="1371600"/>
            <a:ext cx="0" cy="2057400"/>
          </a:xfrm>
          <a:prstGeom prst="straightConnector1">
            <a:avLst/>
          </a:prstGeom>
          <a:noFill/>
          <a:ln w="76300" cap="flat" cmpd="sng">
            <a:solidFill>
              <a:srgbClr val="000000"/>
            </a:solidFill>
            <a:prstDash val="solid"/>
            <a:round/>
            <a:headEnd type="none" w="sm" len="sm"/>
            <a:tailEnd type="none" w="sm" len="sm"/>
          </a:ln>
        </p:spPr>
      </p:cxnSp>
      <p:cxnSp>
        <p:nvCxnSpPr>
          <p:cNvPr id="153" name="Google Shape;153;p23"/>
          <p:cNvCxnSpPr/>
          <p:nvPr/>
        </p:nvCxnSpPr>
        <p:spPr>
          <a:xfrm>
            <a:off x="8001000" y="1371600"/>
            <a:ext cx="0" cy="2057400"/>
          </a:xfrm>
          <a:prstGeom prst="straightConnector1">
            <a:avLst/>
          </a:prstGeom>
          <a:noFill/>
          <a:ln w="76300" cap="flat" cmpd="sng">
            <a:solidFill>
              <a:srgbClr val="000000"/>
            </a:solidFill>
            <a:prstDash val="solid"/>
            <a:round/>
            <a:headEnd type="none" w="sm" len="sm"/>
            <a:tailEnd type="none" w="sm" len="sm"/>
          </a:ln>
        </p:spPr>
      </p:cxnSp>
      <p:cxnSp>
        <p:nvCxnSpPr>
          <p:cNvPr id="154" name="Google Shape;154;p23"/>
          <p:cNvCxnSpPr/>
          <p:nvPr/>
        </p:nvCxnSpPr>
        <p:spPr>
          <a:xfrm>
            <a:off x="5486400" y="1371600"/>
            <a:ext cx="0" cy="2057400"/>
          </a:xfrm>
          <a:prstGeom prst="straightConnector1">
            <a:avLst/>
          </a:prstGeom>
          <a:noFill/>
          <a:ln w="76300" cap="flat" cmpd="sng">
            <a:solidFill>
              <a:srgbClr val="000000"/>
            </a:solidFill>
            <a:prstDash val="solid"/>
            <a:round/>
            <a:headEnd type="none" w="sm" len="sm"/>
            <a:tailEnd type="none" w="sm" len="sm"/>
          </a:ln>
        </p:spPr>
      </p:cxnSp>
      <p:cxnSp>
        <p:nvCxnSpPr>
          <p:cNvPr id="155" name="Google Shape;155;p23"/>
          <p:cNvCxnSpPr/>
          <p:nvPr/>
        </p:nvCxnSpPr>
        <p:spPr>
          <a:xfrm>
            <a:off x="457200" y="3429000"/>
            <a:ext cx="8686800" cy="0"/>
          </a:xfrm>
          <a:prstGeom prst="straightConnector1">
            <a:avLst/>
          </a:prstGeom>
          <a:noFill/>
          <a:ln w="57225" cap="flat" cmpd="sng">
            <a:solidFill>
              <a:srgbClr val="000000"/>
            </a:solidFill>
            <a:prstDash val="solid"/>
            <a:round/>
            <a:headEnd type="none" w="sm" len="sm"/>
            <a:tailEnd type="none" w="sm" len="sm"/>
          </a:ln>
        </p:spPr>
      </p:cxnSp>
      <p:cxnSp>
        <p:nvCxnSpPr>
          <p:cNvPr id="156" name="Google Shape;156;p23"/>
          <p:cNvCxnSpPr/>
          <p:nvPr/>
        </p:nvCxnSpPr>
        <p:spPr>
          <a:xfrm>
            <a:off x="2286000" y="1143000"/>
            <a:ext cx="0" cy="2286000"/>
          </a:xfrm>
          <a:prstGeom prst="straightConnector1">
            <a:avLst/>
          </a:prstGeom>
          <a:noFill/>
          <a:ln w="57225" cap="flat" cmpd="sng">
            <a:solidFill>
              <a:srgbClr val="000000"/>
            </a:solidFill>
            <a:prstDash val="solid"/>
            <a:round/>
            <a:headEnd type="none" w="sm" len="sm"/>
            <a:tailEnd type="none" w="sm" len="sm"/>
          </a:ln>
        </p:spPr>
      </p:cxnSp>
      <p:cxnSp>
        <p:nvCxnSpPr>
          <p:cNvPr id="157" name="Google Shape;157;p23"/>
          <p:cNvCxnSpPr/>
          <p:nvPr/>
        </p:nvCxnSpPr>
        <p:spPr>
          <a:xfrm>
            <a:off x="457200" y="1143000"/>
            <a:ext cx="0" cy="3429000"/>
          </a:xfrm>
          <a:prstGeom prst="straightConnector1">
            <a:avLst/>
          </a:prstGeom>
          <a:noFill/>
          <a:ln w="76300" cap="flat" cmpd="sng">
            <a:solidFill>
              <a:srgbClr val="000000"/>
            </a:solidFill>
            <a:prstDash val="solid"/>
            <a:round/>
            <a:headEnd type="none" w="sm" len="sm"/>
            <a:tailEnd type="none" w="sm" len="sm"/>
          </a:ln>
        </p:spPr>
      </p:cxnSp>
      <p:cxnSp>
        <p:nvCxnSpPr>
          <p:cNvPr id="158" name="Google Shape;158;p23"/>
          <p:cNvCxnSpPr/>
          <p:nvPr/>
        </p:nvCxnSpPr>
        <p:spPr>
          <a:xfrm rot="10800000" flipH="1">
            <a:off x="457200" y="1127160"/>
            <a:ext cx="8686800" cy="15840"/>
          </a:xfrm>
          <a:prstGeom prst="straightConnector1">
            <a:avLst/>
          </a:prstGeom>
          <a:noFill/>
          <a:ln w="57225" cap="flat" cmpd="sng">
            <a:solidFill>
              <a:srgbClr val="000000"/>
            </a:solidFill>
            <a:prstDash val="solid"/>
            <a:round/>
            <a:headEnd type="none" w="sm" len="sm"/>
            <a:tailEnd type="none" w="sm" len="sm"/>
          </a:ln>
        </p:spPr>
      </p:cxnSp>
      <p:cxnSp>
        <p:nvCxnSpPr>
          <p:cNvPr id="159" name="Google Shape;159;p23"/>
          <p:cNvCxnSpPr/>
          <p:nvPr/>
        </p:nvCxnSpPr>
        <p:spPr>
          <a:xfrm>
            <a:off x="9144000" y="1143000"/>
            <a:ext cx="0" cy="3429000"/>
          </a:xfrm>
          <a:prstGeom prst="straightConnector1">
            <a:avLst/>
          </a:prstGeom>
          <a:noFill/>
          <a:ln w="76300" cap="flat" cmpd="sng">
            <a:solidFill>
              <a:srgbClr val="000000"/>
            </a:solidFill>
            <a:prstDash val="solid"/>
            <a:round/>
            <a:headEnd type="none" w="sm" len="sm"/>
            <a:tailEnd type="none" w="sm" len="sm"/>
          </a:ln>
        </p:spPr>
      </p:cxnSp>
      <p:cxnSp>
        <p:nvCxnSpPr>
          <p:cNvPr id="160" name="Google Shape;160;p23"/>
          <p:cNvCxnSpPr/>
          <p:nvPr/>
        </p:nvCxnSpPr>
        <p:spPr>
          <a:xfrm>
            <a:off x="457200" y="4572000"/>
            <a:ext cx="8686800" cy="0"/>
          </a:xfrm>
          <a:prstGeom prst="straightConnector1">
            <a:avLst/>
          </a:prstGeom>
          <a:noFill/>
          <a:ln w="57225" cap="flat" cmpd="sng">
            <a:solidFill>
              <a:srgbClr val="000000"/>
            </a:solidFill>
            <a:prstDash val="solid"/>
            <a:round/>
            <a:headEnd type="none" w="sm" len="sm"/>
            <a:tailEnd type="none" w="sm" len="sm"/>
          </a:ln>
        </p:spPr>
      </p:cxnSp>
      <p:cxnSp>
        <p:nvCxnSpPr>
          <p:cNvPr id="161" name="Google Shape;161;p23"/>
          <p:cNvCxnSpPr/>
          <p:nvPr/>
        </p:nvCxnSpPr>
        <p:spPr>
          <a:xfrm>
            <a:off x="2286000" y="3429000"/>
            <a:ext cx="0" cy="1143000"/>
          </a:xfrm>
          <a:prstGeom prst="straightConnector1">
            <a:avLst/>
          </a:prstGeom>
          <a:noFill/>
          <a:ln w="76300" cap="flat" cmpd="sng">
            <a:solidFill>
              <a:srgbClr val="000000"/>
            </a:solidFill>
            <a:prstDash val="solid"/>
            <a:round/>
            <a:headEnd type="none" w="sm" len="sm"/>
            <a:tailEnd type="none" w="sm" len="sm"/>
          </a:ln>
        </p:spPr>
      </p:cxnSp>
      <p:cxnSp>
        <p:nvCxnSpPr>
          <p:cNvPr id="162" name="Google Shape;162;p23"/>
          <p:cNvCxnSpPr/>
          <p:nvPr/>
        </p:nvCxnSpPr>
        <p:spPr>
          <a:xfrm>
            <a:off x="5486400" y="3429000"/>
            <a:ext cx="0" cy="1143000"/>
          </a:xfrm>
          <a:prstGeom prst="straightConnector1">
            <a:avLst/>
          </a:prstGeom>
          <a:noFill/>
          <a:ln w="76300" cap="flat" cmpd="sng">
            <a:solidFill>
              <a:srgbClr val="000000"/>
            </a:solidFill>
            <a:prstDash val="solid"/>
            <a:round/>
            <a:headEnd type="none" w="sm" len="sm"/>
            <a:tailEnd type="none" w="sm" len="sm"/>
          </a:ln>
        </p:spPr>
      </p:cxnSp>
      <p:cxnSp>
        <p:nvCxnSpPr>
          <p:cNvPr id="163" name="Google Shape;163;p23"/>
          <p:cNvCxnSpPr/>
          <p:nvPr/>
        </p:nvCxnSpPr>
        <p:spPr>
          <a:xfrm>
            <a:off x="2286000" y="1371600"/>
            <a:ext cx="6858000" cy="0"/>
          </a:xfrm>
          <a:prstGeom prst="straightConnector1">
            <a:avLst/>
          </a:prstGeom>
          <a:noFill/>
          <a:ln w="57225" cap="flat" cmpd="sng">
            <a:solidFill>
              <a:srgbClr val="000000"/>
            </a:solidFill>
            <a:prstDash val="solid"/>
            <a:round/>
            <a:headEnd type="none" w="sm" len="sm"/>
            <a:tailEnd type="none" w="sm" len="sm"/>
          </a:ln>
        </p:spPr>
      </p:cxnSp>
      <p:sp>
        <p:nvSpPr>
          <p:cNvPr id="164" name="Google Shape;164;p23"/>
          <p:cNvSpPr txBox="1"/>
          <p:nvPr/>
        </p:nvSpPr>
        <p:spPr>
          <a:xfrm>
            <a:off x="407880" y="4645800"/>
            <a:ext cx="7806960" cy="34596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1600" b="1" strike="noStrike">
                <a:latin typeface="Arial"/>
                <a:ea typeface="Arial"/>
                <a:cs typeface="Arial"/>
                <a:sym typeface="Arial"/>
              </a:rPr>
              <a:t>Note: * significant at α=10%; ** significant at α=5%; *** significant at α=1%</a:t>
            </a:r>
            <a:endParaRPr sz="1600" b="1" strike="noStrike">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4"/>
          <p:cNvSpPr txBox="1"/>
          <p:nvPr/>
        </p:nvSpPr>
        <p:spPr>
          <a:xfrm>
            <a:off x="540000" y="450000"/>
            <a:ext cx="8640000" cy="630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2700" b="1" strike="noStrike" dirty="0">
                <a:latin typeface="+mj-lt"/>
                <a:ea typeface="Arial"/>
                <a:cs typeface="Arial"/>
                <a:sym typeface="Arial"/>
              </a:rPr>
              <a:t>CONCLUSION</a:t>
            </a:r>
            <a:endParaRPr sz="2700" b="0" strike="noStrike" dirty="0">
              <a:latin typeface="+mj-lt"/>
              <a:ea typeface="Arial"/>
              <a:cs typeface="Arial"/>
              <a:sym typeface="Arial"/>
            </a:endParaRPr>
          </a:p>
        </p:txBody>
      </p:sp>
      <p:sp>
        <p:nvSpPr>
          <p:cNvPr id="170" name="Google Shape;170;p24"/>
          <p:cNvSpPr txBox="1"/>
          <p:nvPr/>
        </p:nvSpPr>
        <p:spPr>
          <a:xfrm>
            <a:off x="540000" y="1350000"/>
            <a:ext cx="9000000" cy="3600000"/>
          </a:xfrm>
          <a:prstGeom prst="rect">
            <a:avLst/>
          </a:prstGeom>
          <a:noFill/>
          <a:ln>
            <a:noFill/>
          </a:ln>
        </p:spPr>
        <p:txBody>
          <a:bodyPr spcFirstLastPara="1" wrap="square" lIns="0" tIns="0" rIns="0" bIns="0" anchor="ctr" anchorCtr="0">
            <a:noAutofit/>
          </a:bodyPr>
          <a:lstStyle/>
          <a:p>
            <a:pPr marL="342900" marR="0" lvl="0" indent="-342900" rtl="0">
              <a:spcBef>
                <a:spcPts val="0"/>
              </a:spcBef>
              <a:spcAft>
                <a:spcPts val="0"/>
              </a:spcAft>
              <a:buClr>
                <a:srgbClr val="000000"/>
              </a:buClr>
              <a:buSzPts val="2800"/>
              <a:buFont typeface="Arial" panose="020B0604020202020204" pitchFamily="34" charset="0"/>
              <a:buChar char="•"/>
            </a:pPr>
            <a:r>
              <a:rPr lang="en-US" sz="2000" b="1" strike="noStrike" dirty="0">
                <a:latin typeface="+mj-lt"/>
                <a:ea typeface="Arial"/>
                <a:cs typeface="Arial"/>
                <a:sym typeface="Arial"/>
              </a:rPr>
              <a:t>The Results depict that those independent variables are good predictors for ROE but not for ROA.</a:t>
            </a:r>
            <a:endParaRPr lang="en-US" sz="2000" b="1" dirty="0">
              <a:latin typeface="+mj-lt"/>
            </a:endParaRPr>
          </a:p>
          <a:p>
            <a:pPr marL="342900" marR="0" lvl="0" indent="-342900" rtl="0">
              <a:spcBef>
                <a:spcPts val="0"/>
              </a:spcBef>
              <a:spcAft>
                <a:spcPts val="0"/>
              </a:spcAft>
              <a:buClr>
                <a:srgbClr val="000000"/>
              </a:buClr>
              <a:buSzPts val="2800"/>
              <a:buFont typeface="Arial" panose="020B0604020202020204" pitchFamily="34" charset="0"/>
              <a:buChar char="•"/>
            </a:pPr>
            <a:r>
              <a:rPr lang="en-US" sz="2000" b="1" strike="noStrike" dirty="0">
                <a:latin typeface="+mj-lt"/>
                <a:ea typeface="Arial"/>
                <a:cs typeface="Arial"/>
                <a:sym typeface="Arial"/>
              </a:rPr>
              <a:t>The Breusch-Pagan </a:t>
            </a:r>
            <a:r>
              <a:rPr lang="en-US" sz="2000" b="1" strike="noStrike" dirty="0" err="1">
                <a:latin typeface="+mj-lt"/>
                <a:ea typeface="Arial"/>
                <a:cs typeface="Arial"/>
                <a:sym typeface="Arial"/>
              </a:rPr>
              <a:t>Lagrangian</a:t>
            </a:r>
            <a:r>
              <a:rPr lang="en-US" sz="2000" b="1" strike="noStrike" dirty="0">
                <a:latin typeface="+mj-lt"/>
                <a:ea typeface="Arial"/>
                <a:cs typeface="Arial"/>
                <a:sym typeface="Arial"/>
              </a:rPr>
              <a:t> Multiplier and Hausman tests show that Random effects model is better then Pooled OLS and Fixed effects model respectively.</a:t>
            </a:r>
            <a:endParaRPr lang="en-US" sz="2000" b="1" dirty="0">
              <a:latin typeface="+mj-lt"/>
            </a:endParaRPr>
          </a:p>
          <a:p>
            <a:pPr marL="342900" marR="0" lvl="0" indent="-342900" rtl="0">
              <a:spcBef>
                <a:spcPts val="0"/>
              </a:spcBef>
              <a:spcAft>
                <a:spcPts val="0"/>
              </a:spcAft>
              <a:buClr>
                <a:srgbClr val="000000"/>
              </a:buClr>
              <a:buSzPts val="2800"/>
              <a:buFont typeface="Arial" panose="020B0604020202020204" pitchFamily="34" charset="0"/>
              <a:buChar char="•"/>
            </a:pPr>
            <a:r>
              <a:rPr lang="en-US" sz="2000" b="1" strike="noStrike" dirty="0">
                <a:latin typeface="+mj-lt"/>
                <a:ea typeface="Arial"/>
                <a:cs typeface="Arial"/>
                <a:sym typeface="Arial"/>
              </a:rPr>
              <a:t>The Random effects model shows that total </a:t>
            </a:r>
            <a:r>
              <a:rPr lang="en-US" sz="2000" b="1" strike="noStrike" dirty="0" err="1">
                <a:latin typeface="+mj-lt"/>
                <a:ea typeface="Arial"/>
                <a:cs typeface="Arial"/>
                <a:sym typeface="Arial"/>
              </a:rPr>
              <a:t>assets,equity,and</a:t>
            </a:r>
            <a:r>
              <a:rPr lang="en-US" sz="2000" b="1" strike="noStrike" dirty="0">
                <a:latin typeface="+mj-lt"/>
                <a:ea typeface="Arial"/>
                <a:cs typeface="Arial"/>
                <a:sym typeface="Arial"/>
              </a:rPr>
              <a:t> overhead expenses are significant predictors for Islamic Bank’s financial performance.</a:t>
            </a:r>
            <a:endParaRPr lang="en-US" sz="2000" b="1" dirty="0">
              <a:latin typeface="+mj-lt"/>
            </a:endParaRPr>
          </a:p>
          <a:p>
            <a:pPr marL="342900" marR="0" lvl="0" indent="-342900" rtl="0">
              <a:spcBef>
                <a:spcPts val="0"/>
              </a:spcBef>
              <a:spcAft>
                <a:spcPts val="0"/>
              </a:spcAft>
              <a:buClr>
                <a:srgbClr val="000000"/>
              </a:buClr>
              <a:buSzPts val="2800"/>
              <a:buFont typeface="Arial" panose="020B0604020202020204" pitchFamily="34" charset="0"/>
              <a:buChar char="•"/>
            </a:pPr>
            <a:r>
              <a:rPr lang="en-US" sz="2000" b="1" strike="noStrike" dirty="0">
                <a:latin typeface="+mj-lt"/>
                <a:ea typeface="Arial"/>
                <a:cs typeface="Arial"/>
                <a:sym typeface="Arial"/>
              </a:rPr>
              <a:t>In </a:t>
            </a:r>
            <a:r>
              <a:rPr lang="en-US" sz="2000" b="1" strike="noStrike" dirty="0" err="1">
                <a:latin typeface="+mj-lt"/>
                <a:ea typeface="Arial"/>
                <a:cs typeface="Arial"/>
                <a:sym typeface="Arial"/>
              </a:rPr>
              <a:t>addition,DUMTRAN</a:t>
            </a:r>
            <a:r>
              <a:rPr lang="en-US" sz="2000" b="1" strike="noStrike" dirty="0">
                <a:latin typeface="+mj-lt"/>
                <a:ea typeface="Arial"/>
                <a:cs typeface="Arial"/>
                <a:sym typeface="Arial"/>
              </a:rPr>
              <a:t> is also significantly affecting the financial performance.</a:t>
            </a:r>
            <a:endParaRPr sz="2000" b="1" strike="noStrike" dirty="0">
              <a:latin typeface="+mj-lt"/>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5"/>
          <p:cNvSpPr txBox="1"/>
          <p:nvPr/>
        </p:nvSpPr>
        <p:spPr>
          <a:xfrm>
            <a:off x="685800" y="1270440"/>
            <a:ext cx="8686800" cy="3161520"/>
          </a:xfrm>
          <a:prstGeom prst="rect">
            <a:avLst/>
          </a:prstGeom>
          <a:noFill/>
          <a:ln>
            <a:noFill/>
          </a:ln>
        </p:spPr>
        <p:txBody>
          <a:bodyPr spcFirstLastPara="1" wrap="square" lIns="90000" tIns="45000" rIns="90000" bIns="45000" anchor="t" anchorCtr="0">
            <a:noAutofit/>
          </a:bodyPr>
          <a:lstStyle/>
          <a:p>
            <a:pPr marL="0" marR="0" lvl="0" indent="0" algn="l" rtl="0">
              <a:spcBef>
                <a:spcPts val="0"/>
              </a:spcBef>
              <a:spcAft>
                <a:spcPts val="0"/>
              </a:spcAft>
              <a:buNone/>
            </a:pPr>
            <a:r>
              <a:rPr lang="en-US" sz="1800" b="0" strike="noStrike" dirty="0">
                <a:latin typeface="+mj-lt"/>
                <a:ea typeface="Arial"/>
                <a:cs typeface="Arial"/>
                <a:sym typeface="Arial"/>
              </a:rPr>
              <a:t>                         </a:t>
            </a:r>
            <a:r>
              <a:rPr lang="en-US" sz="1800" b="1" strike="noStrike" dirty="0">
                <a:latin typeface="+mj-lt"/>
                <a:ea typeface="Arial"/>
                <a:cs typeface="Arial"/>
                <a:sym typeface="Arial"/>
              </a:rPr>
              <a:t>Sutan Emir Hidayat and Muhamad Abduh</a:t>
            </a:r>
            <a:endParaRPr sz="1800" b="0" strike="noStrike" dirty="0">
              <a:latin typeface="+mj-lt"/>
              <a:ea typeface="Arial"/>
              <a:cs typeface="Arial"/>
              <a:sym typeface="Arial"/>
            </a:endParaRPr>
          </a:p>
          <a:p>
            <a:pPr marL="0" marR="0" lvl="0" indent="0" algn="l" rtl="0">
              <a:spcBef>
                <a:spcPts val="0"/>
              </a:spcBef>
              <a:spcAft>
                <a:spcPts val="0"/>
              </a:spcAft>
              <a:buNone/>
            </a:pPr>
            <a:endParaRPr sz="1800" b="0" strike="noStrike" dirty="0">
              <a:latin typeface="+mj-lt"/>
              <a:ea typeface="Arial"/>
              <a:cs typeface="Arial"/>
              <a:sym typeface="Arial"/>
            </a:endParaRPr>
          </a:p>
          <a:p>
            <a:pPr marL="0" marR="0" lvl="0" indent="0" algn="l" rtl="0">
              <a:spcBef>
                <a:spcPts val="0"/>
              </a:spcBef>
              <a:spcAft>
                <a:spcPts val="0"/>
              </a:spcAft>
              <a:buNone/>
            </a:pPr>
            <a:r>
              <a:rPr lang="en-US" sz="1800" b="0" strike="noStrike" dirty="0">
                <a:latin typeface="+mj-lt"/>
                <a:ea typeface="Arial"/>
                <a:cs typeface="Arial"/>
                <a:sym typeface="Arial"/>
              </a:rPr>
              <a:t> </a:t>
            </a:r>
            <a:r>
              <a:rPr lang="en-US" sz="1800" b="1" strike="noStrike" dirty="0">
                <a:latin typeface="+mj-lt"/>
                <a:ea typeface="Arial"/>
                <a:cs typeface="Arial"/>
                <a:sym typeface="Arial"/>
              </a:rPr>
              <a:t>University College of Bahrain, Manama, Bahrain</a:t>
            </a:r>
            <a:endParaRPr sz="1800" b="0" strike="noStrike" dirty="0">
              <a:latin typeface="+mj-lt"/>
              <a:ea typeface="Arial"/>
              <a:cs typeface="Arial"/>
              <a:sym typeface="Arial"/>
            </a:endParaRPr>
          </a:p>
          <a:p>
            <a:pPr marL="0" marR="0" lvl="0" indent="0" algn="l" rtl="0">
              <a:spcBef>
                <a:spcPts val="0"/>
              </a:spcBef>
              <a:spcAft>
                <a:spcPts val="0"/>
              </a:spcAft>
              <a:buNone/>
            </a:pPr>
            <a:r>
              <a:rPr lang="en-US" sz="1800" b="1" strike="noStrike" dirty="0">
                <a:latin typeface="+mj-lt"/>
                <a:ea typeface="Arial"/>
                <a:cs typeface="Arial"/>
                <a:sym typeface="Arial"/>
              </a:rPr>
              <a:t> IIUM Institute of Islamic Banking and Finance, International Islamic University  Malaysia, Kuala </a:t>
            </a:r>
            <a:r>
              <a:rPr lang="en-US" sz="1800" b="1" strike="noStrike" dirty="0" err="1">
                <a:latin typeface="+mj-lt"/>
                <a:ea typeface="Arial"/>
                <a:cs typeface="Arial"/>
                <a:sym typeface="Arial"/>
              </a:rPr>
              <a:t>Lumpur,Malaysia</a:t>
            </a:r>
            <a:endParaRPr sz="1800" b="0" strike="noStrike" dirty="0">
              <a:latin typeface="+mj-lt"/>
              <a:ea typeface="Arial"/>
              <a:cs typeface="Arial"/>
              <a:sym typeface="Arial"/>
            </a:endParaRPr>
          </a:p>
          <a:p>
            <a:pPr marL="0" marR="0" lvl="0" indent="0" algn="l" rtl="0">
              <a:spcBef>
                <a:spcPts val="0"/>
              </a:spcBef>
              <a:spcAft>
                <a:spcPts val="0"/>
              </a:spcAft>
              <a:buNone/>
            </a:pPr>
            <a:r>
              <a:rPr lang="en-US" sz="1800" b="1" strike="noStrike" dirty="0">
                <a:latin typeface="+mj-lt"/>
                <a:ea typeface="Arial"/>
                <a:cs typeface="Arial"/>
                <a:sym typeface="Arial"/>
              </a:rPr>
              <a:t> Correspondence: Sutan Emir Hidayat, University College of Bahrain, Manama, </a:t>
            </a:r>
            <a:endParaRPr sz="1800" b="0" strike="noStrike" dirty="0">
              <a:latin typeface="+mj-lt"/>
              <a:ea typeface="Arial"/>
              <a:cs typeface="Arial"/>
              <a:sym typeface="Arial"/>
            </a:endParaRPr>
          </a:p>
          <a:p>
            <a:pPr marL="0" marR="0" lvl="0" indent="0" algn="l" rtl="0">
              <a:spcBef>
                <a:spcPts val="0"/>
              </a:spcBef>
              <a:spcAft>
                <a:spcPts val="0"/>
              </a:spcAft>
              <a:buNone/>
            </a:pPr>
            <a:r>
              <a:rPr lang="en-US" sz="1800" b="1" strike="noStrike" dirty="0">
                <a:latin typeface="+mj-lt"/>
                <a:ea typeface="Arial"/>
                <a:cs typeface="Arial"/>
                <a:sym typeface="Arial"/>
              </a:rPr>
              <a:t>Received: May 13, 2012 Accepted: May 31, 2012 Published: July 1, 2012 </a:t>
            </a:r>
            <a:endParaRPr sz="1800" b="0" strike="noStrike" dirty="0">
              <a:latin typeface="+mj-lt"/>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1265</Words>
  <Application>Microsoft Office PowerPoint</Application>
  <PresentationFormat>Custom</PresentationFormat>
  <Paragraphs>173</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Noto Sans Symbols</vt:lpstr>
      <vt:lpstr>Arial</vt:lpstr>
      <vt:lpstr>Tahoma</vt:lpstr>
      <vt:lpstr>Alef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Aishwarya</cp:lastModifiedBy>
  <cp:revision>1</cp:revision>
  <dcterms:modified xsi:type="dcterms:W3CDTF">2026-10-26T16:32:58Z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2026-10-26T16:29:16Z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e4ee00ff-7efd-4d46-9b6a-9b41ea290be1</vt:lpwstr>
  </property>
  <property fmtid="{D5CDD505-2E9C-101B-9397-08002B2CF9AE}" pid="7" name="MSIP_Label_defa4170-0d19-0005-0004-bc88714345d2_ActionId">
    <vt:lpwstr>5d6b94f5-d015-41d8-8bdf-9d3a07c6a147</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