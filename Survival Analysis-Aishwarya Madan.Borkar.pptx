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71" r:id="rId2"/>
    <p:sldId id="276" r:id="rId3"/>
    <p:sldId id="270" r:id="rId4"/>
    <p:sldId id="273" r:id="rId5"/>
    <p:sldId id="272" r:id="rId6"/>
    <p:sldId id="256" r:id="rId7"/>
    <p:sldId id="258" r:id="rId8"/>
    <p:sldId id="259" r:id="rId9"/>
    <p:sldId id="260" r:id="rId10"/>
    <p:sldId id="275" r:id="rId11"/>
    <p:sldId id="263" r:id="rId12"/>
    <p:sldId id="277" r:id="rId13"/>
    <p:sldId id="264" r:id="rId14"/>
    <p:sldId id="265" r:id="rId15"/>
    <p:sldId id="266" r:id="rId16"/>
    <p:sldId id="268" r:id="rId17"/>
    <p:sldId id="269" r:id="rId18"/>
  </p:sldIdLst>
  <p:sldSz cx="9144000" cy="5143500" type="screen16x9"/>
  <p:notesSz cx="6858000" cy="9144000"/>
  <p:embeddedFontLst>
    <p:embeddedFont>
      <p:font typeface="Amatic SC" panose="00000500000000000000" pitchFamily="2" charset="-79"/>
      <p:regular r:id="rId20"/>
      <p:bold r:id="rId21"/>
    </p:embeddedFont>
    <p:embeddedFont>
      <p:font typeface="Caveat" panose="020B0604020202020204" charset="0"/>
      <p:regular r:id="rId22"/>
      <p:bold r:id="rId23"/>
    </p:embeddedFont>
    <p:embeddedFont>
      <p:font typeface="Comfortaa" panose="020B0604020202020204" charset="0"/>
      <p:regular r:id="rId24"/>
      <p:bold r:id="rId25"/>
    </p:embeddedFont>
    <p:embeddedFont>
      <p:font typeface="Comic Sans MS" panose="030F0702030302020204" pitchFamily="66" charset="0"/>
      <p:regular r:id="rId26"/>
      <p:bold r:id="rId27"/>
      <p:italic r:id="rId28"/>
      <p:boldItalic r:id="rId29"/>
    </p:embeddedFont>
    <p:embeddedFont>
      <p:font typeface="Pacifico" panose="00000500000000000000" pitchFamily="2" charset="0"/>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723C468-FB8D-45D9-8FE7-4A02ED035249}">
  <a:tblStyle styleId="{A723C468-FB8D-45D9-8FE7-4A02ED03524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76E15D74-844A-760B-B4FC-D65954F7C3C1}"/>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03C89793-616E-FC92-8F32-D47A8CD9EE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121EB68A-F97E-9C24-1F16-1EABC706A5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9625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CB33B72D-84A5-9E4D-33C2-3E1D1CD53DF7}"/>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D97B4D97-F30C-E1C1-1493-B2C7C4BE7F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AC66816D-2557-EDB7-3878-5097179D8B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8415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EE6AD29B-411E-653A-9078-3C07B623756B}"/>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062A74BE-FFAE-4798-68F6-1E7F85E07B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C2EC0217-4782-A427-D92D-D2616A1E00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7800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8D1C074A-7802-8C67-31CC-E6B500D439D7}"/>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AF635DA5-F77F-500E-E7D2-1A5019B723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60EEAEAA-5A59-F59E-0C31-50C1EA59B3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5377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5DCF5CEF-317B-7B13-7F11-934571F41F5C}"/>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02525F59-3B76-F815-7A79-46F9C5066C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D186D204-2651-4651-3BF9-D97F5E58A5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38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0353d567ae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0353d567ae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10353d567ae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10353d567ae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0353d567ae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0353d567ae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0353d567a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10353d567a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53A043D5-E2C6-7A97-974B-DDFE40EF0521}"/>
            </a:ext>
          </a:extLst>
        </p:cNvPr>
        <p:cNvGrpSpPr/>
        <p:nvPr/>
      </p:nvGrpSpPr>
      <p:grpSpPr>
        <a:xfrm>
          <a:off x="0" y="0"/>
          <a:ext cx="0" cy="0"/>
          <a:chOff x="0" y="0"/>
          <a:chExt cx="0" cy="0"/>
        </a:xfrm>
      </p:grpSpPr>
      <p:sp>
        <p:nvSpPr>
          <p:cNvPr id="104" name="Google Shape;104;g10353d567ae_0_281:notes">
            <a:extLst>
              <a:ext uri="{FF2B5EF4-FFF2-40B4-BE49-F238E27FC236}">
                <a16:creationId xmlns:a16="http://schemas.microsoft.com/office/drawing/2014/main" id="{A5D5DA09-8003-6DC6-7157-3CF4F1DAA0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10353d567ae_0_281:notes">
            <a:extLst>
              <a:ext uri="{FF2B5EF4-FFF2-40B4-BE49-F238E27FC236}">
                <a16:creationId xmlns:a16="http://schemas.microsoft.com/office/drawing/2014/main" id="{7115EF97-C881-5C71-1BD6-4677A551CE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19189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10353d567ae_0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10353d567ae_0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0353d567ae_0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10353d567ae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10353d567ae_0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10353d567ae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11e97e19003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11e97e19003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0353d567ae_0_3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10353d567ae_0_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dk1"/>
              </a:buClr>
              <a:buSzPts val="1800"/>
              <a:buChar char="●"/>
              <a:defRPr>
                <a:solidFill>
                  <a:schemeClr val="dk1"/>
                </a:solidFill>
              </a:defRPr>
            </a:lvl1pPr>
            <a:lvl2pPr marL="914400" lvl="1" indent="-317500">
              <a:spcBef>
                <a:spcPts val="0"/>
              </a:spcBef>
              <a:spcAft>
                <a:spcPts val="0"/>
              </a:spcAft>
              <a:buClr>
                <a:schemeClr val="dk1"/>
              </a:buClr>
              <a:buSzPts val="1400"/>
              <a:buChar char="○"/>
              <a:defRPr>
                <a:solidFill>
                  <a:schemeClr val="dk1"/>
                </a:solidFill>
              </a:defRPr>
            </a:lvl2pPr>
            <a:lvl3pPr marL="1371600" lvl="2" indent="-317500">
              <a:spcBef>
                <a:spcPts val="0"/>
              </a:spcBef>
              <a:spcAft>
                <a:spcPts val="0"/>
              </a:spcAft>
              <a:buClr>
                <a:schemeClr val="dk1"/>
              </a:buClr>
              <a:buSzPts val="1400"/>
              <a:buChar char="■"/>
              <a:defRPr>
                <a:solidFill>
                  <a:schemeClr val="dk1"/>
                </a:solidFill>
              </a:defRPr>
            </a:lvl3pPr>
            <a:lvl4pPr marL="1828800" lvl="3" indent="-317500">
              <a:spcBef>
                <a:spcPts val="0"/>
              </a:spcBef>
              <a:spcAft>
                <a:spcPts val="0"/>
              </a:spcAft>
              <a:buClr>
                <a:schemeClr val="dk1"/>
              </a:buClr>
              <a:buSzPts val="1400"/>
              <a:buChar char="●"/>
              <a:defRPr>
                <a:solidFill>
                  <a:schemeClr val="dk1"/>
                </a:solidFill>
              </a:defRPr>
            </a:lvl4pPr>
            <a:lvl5pPr marL="2286000" lvl="4" indent="-317500">
              <a:spcBef>
                <a:spcPts val="0"/>
              </a:spcBef>
              <a:spcAft>
                <a:spcPts val="0"/>
              </a:spcAft>
              <a:buClr>
                <a:schemeClr val="dk1"/>
              </a:buClr>
              <a:buSzPts val="1400"/>
              <a:buChar char="○"/>
              <a:defRPr>
                <a:solidFill>
                  <a:schemeClr val="dk1"/>
                </a:solidFill>
              </a:defRPr>
            </a:lvl5pPr>
            <a:lvl6pPr marL="2743200" lvl="5" indent="-317500">
              <a:spcBef>
                <a:spcPts val="0"/>
              </a:spcBef>
              <a:spcAft>
                <a:spcPts val="0"/>
              </a:spcAft>
              <a:buClr>
                <a:schemeClr val="dk1"/>
              </a:buClr>
              <a:buSzPts val="1400"/>
              <a:buChar char="■"/>
              <a:defRPr>
                <a:solidFill>
                  <a:schemeClr val="dk1"/>
                </a:solidFill>
              </a:defRPr>
            </a:lvl6pPr>
            <a:lvl7pPr marL="3200400" lvl="6" indent="-317500">
              <a:spcBef>
                <a:spcPts val="0"/>
              </a:spcBef>
              <a:spcAft>
                <a:spcPts val="0"/>
              </a:spcAft>
              <a:buClr>
                <a:schemeClr val="dk1"/>
              </a:buClr>
              <a:buSzPts val="1400"/>
              <a:buChar char="●"/>
              <a:defRPr>
                <a:solidFill>
                  <a:schemeClr val="dk1"/>
                </a:solidFill>
              </a:defRPr>
            </a:lvl7pPr>
            <a:lvl8pPr marL="3657600" lvl="7" indent="-317500">
              <a:spcBef>
                <a:spcPts val="0"/>
              </a:spcBef>
              <a:spcAft>
                <a:spcPts val="0"/>
              </a:spcAft>
              <a:buClr>
                <a:schemeClr val="dk1"/>
              </a:buClr>
              <a:buSzPts val="1400"/>
              <a:buChar char="○"/>
              <a:defRPr>
                <a:solidFill>
                  <a:schemeClr val="dk1"/>
                </a:solidFill>
              </a:defRPr>
            </a:lvl8pPr>
            <a:lvl9pPr marL="4114800" lvl="8" indent="-317500">
              <a:spcBef>
                <a:spcPts val="0"/>
              </a:spcBef>
              <a:spcAft>
                <a:spcPts val="0"/>
              </a:spcAft>
              <a:buClr>
                <a:schemeClr val="dk1"/>
              </a:buClr>
              <a:buSzPts val="1400"/>
              <a:buChar char="■"/>
              <a:defRPr>
                <a:solidFill>
                  <a:schemeClr val="dk1"/>
                </a:solidFill>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dark-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Char char="●"/>
              <a:defRPr sz="1800">
                <a:solidFill>
                  <a:schemeClr val="lt2"/>
                </a:solidFill>
              </a:defRPr>
            </a:lvl1pPr>
            <a:lvl2pPr marL="914400" lvl="1" indent="-317500">
              <a:lnSpc>
                <a:spcPct val="115000"/>
              </a:lnSpc>
              <a:spcBef>
                <a:spcPts val="0"/>
              </a:spcBef>
              <a:spcAft>
                <a:spcPts val="0"/>
              </a:spcAft>
              <a:buClr>
                <a:schemeClr val="lt2"/>
              </a:buClr>
              <a:buSzPts val="1400"/>
              <a:buChar char="○"/>
              <a:defRPr>
                <a:solidFill>
                  <a:schemeClr val="lt2"/>
                </a:solidFill>
              </a:defRPr>
            </a:lvl2pPr>
            <a:lvl3pPr marL="1371600" lvl="2" indent="-317500">
              <a:lnSpc>
                <a:spcPct val="115000"/>
              </a:lnSpc>
              <a:spcBef>
                <a:spcPts val="0"/>
              </a:spcBef>
              <a:spcAft>
                <a:spcPts val="0"/>
              </a:spcAft>
              <a:buClr>
                <a:schemeClr val="lt2"/>
              </a:buClr>
              <a:buSzPts val="1400"/>
              <a:buChar char="■"/>
              <a:defRPr>
                <a:solidFill>
                  <a:schemeClr val="lt2"/>
                </a:solidFill>
              </a:defRPr>
            </a:lvl3pPr>
            <a:lvl4pPr marL="1828800" lvl="3" indent="-317500">
              <a:lnSpc>
                <a:spcPct val="115000"/>
              </a:lnSpc>
              <a:spcBef>
                <a:spcPts val="0"/>
              </a:spcBef>
              <a:spcAft>
                <a:spcPts val="0"/>
              </a:spcAft>
              <a:buClr>
                <a:schemeClr val="lt2"/>
              </a:buClr>
              <a:buSzPts val="1400"/>
              <a:buChar char="●"/>
              <a:defRPr>
                <a:solidFill>
                  <a:schemeClr val="lt2"/>
                </a:solidFill>
              </a:defRPr>
            </a:lvl4pPr>
            <a:lvl5pPr marL="2286000" lvl="4" indent="-317500">
              <a:lnSpc>
                <a:spcPct val="115000"/>
              </a:lnSpc>
              <a:spcBef>
                <a:spcPts val="0"/>
              </a:spcBef>
              <a:spcAft>
                <a:spcPts val="0"/>
              </a:spcAft>
              <a:buClr>
                <a:schemeClr val="lt2"/>
              </a:buClr>
              <a:buSzPts val="1400"/>
              <a:buChar char="○"/>
              <a:defRPr>
                <a:solidFill>
                  <a:schemeClr val="lt2"/>
                </a:solidFill>
              </a:defRPr>
            </a:lvl5pPr>
            <a:lvl6pPr marL="2743200" lvl="5" indent="-317500">
              <a:lnSpc>
                <a:spcPct val="115000"/>
              </a:lnSpc>
              <a:spcBef>
                <a:spcPts val="0"/>
              </a:spcBef>
              <a:spcAft>
                <a:spcPts val="0"/>
              </a:spcAft>
              <a:buClr>
                <a:schemeClr val="lt2"/>
              </a:buClr>
              <a:buSzPts val="1400"/>
              <a:buChar char="■"/>
              <a:defRPr>
                <a:solidFill>
                  <a:schemeClr val="lt2"/>
                </a:solidFill>
              </a:defRPr>
            </a:lvl6pPr>
            <a:lvl7pPr marL="3200400" lvl="6" indent="-317500">
              <a:lnSpc>
                <a:spcPct val="115000"/>
              </a:lnSpc>
              <a:spcBef>
                <a:spcPts val="0"/>
              </a:spcBef>
              <a:spcAft>
                <a:spcPts val="0"/>
              </a:spcAft>
              <a:buClr>
                <a:schemeClr val="lt2"/>
              </a:buClr>
              <a:buSzPts val="1400"/>
              <a:buChar char="●"/>
              <a:defRPr>
                <a:solidFill>
                  <a:schemeClr val="lt2"/>
                </a:solidFill>
              </a:defRPr>
            </a:lvl7pPr>
            <a:lvl8pPr marL="3657600" lvl="7" indent="-317500">
              <a:lnSpc>
                <a:spcPct val="115000"/>
              </a:lnSpc>
              <a:spcBef>
                <a:spcPts val="0"/>
              </a:spcBef>
              <a:spcAft>
                <a:spcPts val="0"/>
              </a:spcAft>
              <a:buClr>
                <a:schemeClr val="lt2"/>
              </a:buClr>
              <a:buSzPts val="1400"/>
              <a:buChar char="○"/>
              <a:defRPr>
                <a:solidFill>
                  <a:schemeClr val="lt2"/>
                </a:solidFill>
              </a:defRPr>
            </a:lvl8pPr>
            <a:lvl9pPr marL="4114800" lvl="8" indent="-317500">
              <a:lnSpc>
                <a:spcPct val="115000"/>
              </a:lnSpc>
              <a:spcBef>
                <a:spcPts val="0"/>
              </a:spcBef>
              <a:spcAft>
                <a:spcPts val="0"/>
              </a:spcAft>
              <a:buClr>
                <a:schemeClr val="lt2"/>
              </a:buClr>
              <a:buSzPts val="1400"/>
              <a:buChar char="■"/>
              <a:defRPr>
                <a:solidFill>
                  <a:schemeClr val="lt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journals.plos.org/plosone/article?id=10.1371/journal.pone.0112838"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hyperlink" Target="http://scholar.google.com/scholar?q=Review+of+cigarette+smoking+and+tuberculosis+in+China%3A+intervention+is+needed+for+smoking+cessation+among+tuberculosis+patients+Wang+2009" TargetMode="External"/><Relationship Id="rId4" Type="http://schemas.openxmlformats.org/officeDocument/2006/relationships/hyperlink" Target="http://scholar.google.com/scholar?q=TB+cases+notified+in+Ireland+in+2011.+Provisional+Data++2013"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297C638A-BB39-E5F7-1A27-FAB968379842}"/>
            </a:ext>
          </a:extLst>
        </p:cNvPr>
        <p:cNvGrpSpPr/>
        <p:nvPr/>
      </p:nvGrpSpPr>
      <p:grpSpPr>
        <a:xfrm>
          <a:off x="0" y="0"/>
          <a:ext cx="0" cy="0"/>
          <a:chOff x="0" y="0"/>
          <a:chExt cx="0" cy="0"/>
        </a:xfrm>
      </p:grpSpPr>
      <p:sp>
        <p:nvSpPr>
          <p:cNvPr id="54" name="Google Shape;54;p13">
            <a:extLst>
              <a:ext uri="{FF2B5EF4-FFF2-40B4-BE49-F238E27FC236}">
                <a16:creationId xmlns:a16="http://schemas.microsoft.com/office/drawing/2014/main" id="{12C31DD0-813D-C49A-77B1-B4E9FBB205F7}"/>
              </a:ext>
            </a:extLst>
          </p:cNvPr>
          <p:cNvSpPr txBox="1">
            <a:spLocks noGrp="1"/>
          </p:cNvSpPr>
          <p:nvPr>
            <p:ph type="ctrTitle"/>
          </p:nvPr>
        </p:nvSpPr>
        <p:spPr>
          <a:xfrm>
            <a:off x="311708" y="744574"/>
            <a:ext cx="8520600" cy="2712303"/>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sz="5311" b="1" dirty="0">
                <a:latin typeface="Caveat"/>
                <a:ea typeface="Caveat"/>
                <a:cs typeface="Caveat"/>
                <a:sym typeface="Caveat"/>
              </a:rPr>
              <a:t>         </a:t>
            </a:r>
            <a:endParaRPr sz="5311" b="1" dirty="0">
              <a:latin typeface="Caveat"/>
              <a:ea typeface="Caveat"/>
              <a:cs typeface="Caveat"/>
              <a:sym typeface="Caveat"/>
            </a:endParaRPr>
          </a:p>
          <a:p>
            <a:pPr marL="0" lvl="0" indent="0" algn="l" rtl="0">
              <a:spcBef>
                <a:spcPts val="0"/>
              </a:spcBef>
              <a:spcAft>
                <a:spcPts val="0"/>
              </a:spcAft>
              <a:buNone/>
            </a:pPr>
            <a:endParaRPr sz="5311" b="1" dirty="0">
              <a:latin typeface="Caveat"/>
              <a:ea typeface="Caveat"/>
              <a:cs typeface="Caveat"/>
              <a:sym typeface="Caveat"/>
            </a:endParaRPr>
          </a:p>
          <a:p>
            <a:pPr marL="0" lvl="0" indent="0" algn="l" rtl="0">
              <a:spcBef>
                <a:spcPts val="0"/>
              </a:spcBef>
              <a:spcAft>
                <a:spcPts val="0"/>
              </a:spcAft>
              <a:buNone/>
            </a:pPr>
            <a:endParaRPr sz="5311" b="1" dirty="0">
              <a:latin typeface="Caveat"/>
              <a:ea typeface="Caveat"/>
              <a:cs typeface="Caveat"/>
              <a:sym typeface="Caveat"/>
            </a:endParaRPr>
          </a:p>
          <a:p>
            <a:r>
              <a:rPr lang="en-US" sz="5400" dirty="0"/>
              <a:t>SURVIVAL ANALYSIS</a:t>
            </a:r>
            <a:br>
              <a:rPr lang="en-IN" sz="5400" dirty="0"/>
            </a:br>
            <a:endParaRPr sz="5311" b="1" dirty="0">
              <a:latin typeface="Caveat"/>
              <a:ea typeface="Caveat"/>
              <a:cs typeface="Caveat"/>
              <a:sym typeface="Caveat"/>
            </a:endParaRPr>
          </a:p>
        </p:txBody>
      </p:sp>
      <p:sp>
        <p:nvSpPr>
          <p:cNvPr id="8" name="Subtitle 7">
            <a:extLst>
              <a:ext uri="{FF2B5EF4-FFF2-40B4-BE49-F238E27FC236}">
                <a16:creationId xmlns:a16="http://schemas.microsoft.com/office/drawing/2014/main" id="{4BDE50A3-2D6E-73A7-53E2-8D82444B6590}"/>
              </a:ext>
            </a:extLst>
          </p:cNvPr>
          <p:cNvSpPr>
            <a:spLocks noGrp="1"/>
          </p:cNvSpPr>
          <p:nvPr>
            <p:ph type="subTitle" idx="1"/>
          </p:nvPr>
        </p:nvSpPr>
        <p:spPr/>
        <p:txBody>
          <a:bodyPr/>
          <a:lstStyle/>
          <a:p>
            <a:r>
              <a:rPr lang="en-US" dirty="0">
                <a:solidFill>
                  <a:schemeClr val="tx1"/>
                </a:solidFill>
              </a:rPr>
              <a:t>-Aishwarya Madan. Borkar</a:t>
            </a:r>
            <a:endParaRPr lang="en-IN" dirty="0">
              <a:solidFill>
                <a:schemeClr val="tx1"/>
              </a:solidFill>
            </a:endParaRPr>
          </a:p>
        </p:txBody>
      </p:sp>
      <p:pic>
        <p:nvPicPr>
          <p:cNvPr id="11" name="Picture 2" descr="Survival Time Analysis">
            <a:extLst>
              <a:ext uri="{FF2B5EF4-FFF2-40B4-BE49-F238E27FC236}">
                <a16:creationId xmlns:a16="http://schemas.microsoft.com/office/drawing/2014/main" id="{9E7AB307-70FC-8CF0-B239-B00B392E36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07" y="70568"/>
            <a:ext cx="2408897" cy="171878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54452B85-FB2D-2F57-8CA7-4B40857A606B}"/>
              </a:ext>
            </a:extLst>
          </p:cNvPr>
          <p:cNvPicPr>
            <a:picLocks noChangeAspect="1"/>
          </p:cNvPicPr>
          <p:nvPr/>
        </p:nvPicPr>
        <p:blipFill>
          <a:blip r:embed="rId4"/>
          <a:stretch>
            <a:fillRect/>
          </a:stretch>
        </p:blipFill>
        <p:spPr>
          <a:xfrm>
            <a:off x="6884926" y="3345365"/>
            <a:ext cx="2192175" cy="1686623"/>
          </a:xfrm>
          <a:prstGeom prst="rect">
            <a:avLst/>
          </a:prstGeom>
        </p:spPr>
      </p:pic>
    </p:spTree>
    <p:extLst>
      <p:ext uri="{BB962C8B-B14F-4D97-AF65-F5344CB8AC3E}">
        <p14:creationId xmlns:p14="http://schemas.microsoft.com/office/powerpoint/2010/main" val="207067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A4E004FB-D5F5-7C83-9BD5-1D4A7B25284C}"/>
            </a:ext>
          </a:extLst>
        </p:cNvPr>
        <p:cNvGrpSpPr/>
        <p:nvPr/>
      </p:nvGrpSpPr>
      <p:grpSpPr>
        <a:xfrm>
          <a:off x="0" y="0"/>
          <a:ext cx="0" cy="0"/>
          <a:chOff x="0" y="0"/>
          <a:chExt cx="0" cy="0"/>
        </a:xfrm>
      </p:grpSpPr>
      <p:sp>
        <p:nvSpPr>
          <p:cNvPr id="54" name="Google Shape;54;p13">
            <a:extLst>
              <a:ext uri="{FF2B5EF4-FFF2-40B4-BE49-F238E27FC236}">
                <a16:creationId xmlns:a16="http://schemas.microsoft.com/office/drawing/2014/main" id="{58B52296-988A-A3BA-4302-D8888BF6E780}"/>
              </a:ext>
            </a:extLst>
          </p:cNvPr>
          <p:cNvSpPr txBox="1">
            <a:spLocks noGrp="1"/>
          </p:cNvSpPr>
          <p:nvPr>
            <p:ph type="ctrTitle"/>
          </p:nvPr>
        </p:nvSpPr>
        <p:spPr>
          <a:xfrm>
            <a:off x="311700" y="158450"/>
            <a:ext cx="8520600" cy="2547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5311" b="1" dirty="0">
                <a:latin typeface="Caveat"/>
                <a:ea typeface="Caveat"/>
                <a:cs typeface="Caveat"/>
                <a:sym typeface="Caveat"/>
              </a:rPr>
              <a:t>         </a:t>
            </a:r>
            <a:endParaRPr sz="5311" b="1" dirty="0">
              <a:latin typeface="Caveat"/>
              <a:ea typeface="Caveat"/>
              <a:cs typeface="Caveat"/>
              <a:sym typeface="Caveat"/>
            </a:endParaRPr>
          </a:p>
          <a:p>
            <a:pPr marL="0" lvl="0" indent="0" algn="l" rtl="0">
              <a:spcBef>
                <a:spcPts val="0"/>
              </a:spcBef>
              <a:spcAft>
                <a:spcPts val="0"/>
              </a:spcAft>
              <a:buNone/>
            </a:pPr>
            <a:endParaRPr sz="5311" b="1" dirty="0">
              <a:latin typeface="Caveat"/>
              <a:ea typeface="Caveat"/>
              <a:cs typeface="Caveat"/>
              <a:sym typeface="Caveat"/>
            </a:endParaRPr>
          </a:p>
          <a:p>
            <a:pPr marL="0" lvl="0" indent="0" algn="l" rtl="0">
              <a:spcBef>
                <a:spcPts val="0"/>
              </a:spcBef>
              <a:spcAft>
                <a:spcPts val="0"/>
              </a:spcAft>
              <a:buNone/>
            </a:pPr>
            <a:endParaRPr sz="5311" b="1" dirty="0">
              <a:latin typeface="Caveat"/>
              <a:ea typeface="Caveat"/>
              <a:cs typeface="Caveat"/>
              <a:sym typeface="Caveat"/>
            </a:endParaRPr>
          </a:p>
          <a:p>
            <a:pPr marL="0" lvl="0" indent="0" algn="l" rtl="0">
              <a:spcBef>
                <a:spcPts val="0"/>
              </a:spcBef>
              <a:spcAft>
                <a:spcPts val="0"/>
              </a:spcAft>
              <a:buNone/>
            </a:pPr>
            <a:endParaRPr sz="5311" b="1" dirty="0">
              <a:latin typeface="Caveat"/>
              <a:ea typeface="Caveat"/>
              <a:cs typeface="Caveat"/>
              <a:sym typeface="Caveat"/>
            </a:endParaRPr>
          </a:p>
        </p:txBody>
      </p:sp>
      <p:pic>
        <p:nvPicPr>
          <p:cNvPr id="4" name="Google Shape;2194;p32">
            <a:extLst>
              <a:ext uri="{FF2B5EF4-FFF2-40B4-BE49-F238E27FC236}">
                <a16:creationId xmlns:a16="http://schemas.microsoft.com/office/drawing/2014/main" id="{1DCD0254-E475-FBE0-1469-9990C04F6506}"/>
              </a:ext>
            </a:extLst>
          </p:cNvPr>
          <p:cNvPicPr preferRelativeResize="0"/>
          <p:nvPr/>
        </p:nvPicPr>
        <p:blipFill>
          <a:blip r:embed="rId3">
            <a:alphaModFix/>
          </a:blip>
          <a:stretch>
            <a:fillRect/>
          </a:stretch>
        </p:blipFill>
        <p:spPr>
          <a:xfrm>
            <a:off x="423525" y="1313943"/>
            <a:ext cx="1839000" cy="1915300"/>
          </a:xfrm>
          <a:prstGeom prst="rect">
            <a:avLst/>
          </a:prstGeom>
          <a:noFill/>
          <a:ln>
            <a:noFill/>
          </a:ln>
        </p:spPr>
      </p:pic>
      <p:pic>
        <p:nvPicPr>
          <p:cNvPr id="5" name="Google Shape;2193;p32">
            <a:extLst>
              <a:ext uri="{FF2B5EF4-FFF2-40B4-BE49-F238E27FC236}">
                <a16:creationId xmlns:a16="http://schemas.microsoft.com/office/drawing/2014/main" id="{B16CD307-5621-9F48-B225-79772A21AAF5}"/>
              </a:ext>
            </a:extLst>
          </p:cNvPr>
          <p:cNvPicPr preferRelativeResize="0"/>
          <p:nvPr/>
        </p:nvPicPr>
        <p:blipFill>
          <a:blip r:embed="rId4">
            <a:alphaModFix/>
          </a:blip>
          <a:stretch>
            <a:fillRect/>
          </a:stretch>
        </p:blipFill>
        <p:spPr>
          <a:xfrm>
            <a:off x="3246037" y="1334150"/>
            <a:ext cx="1534250" cy="1845350"/>
          </a:xfrm>
          <a:prstGeom prst="rect">
            <a:avLst/>
          </a:prstGeom>
          <a:noFill/>
          <a:ln w="19050" cap="flat" cmpd="sng">
            <a:solidFill>
              <a:schemeClr val="dk1"/>
            </a:solidFill>
            <a:prstDash val="solid"/>
            <a:round/>
            <a:headEnd type="none" w="sm" len="sm"/>
            <a:tailEnd type="none" w="sm" len="sm"/>
          </a:ln>
        </p:spPr>
      </p:pic>
      <p:pic>
        <p:nvPicPr>
          <p:cNvPr id="6" name="Google Shape;2195;p32">
            <a:extLst>
              <a:ext uri="{FF2B5EF4-FFF2-40B4-BE49-F238E27FC236}">
                <a16:creationId xmlns:a16="http://schemas.microsoft.com/office/drawing/2014/main" id="{DE9229CB-3D6D-59A1-BF3E-2AC4EC009690}"/>
              </a:ext>
            </a:extLst>
          </p:cNvPr>
          <p:cNvPicPr preferRelativeResize="0"/>
          <p:nvPr/>
        </p:nvPicPr>
        <p:blipFill>
          <a:blip r:embed="rId5">
            <a:alphaModFix/>
          </a:blip>
          <a:stretch>
            <a:fillRect/>
          </a:stretch>
        </p:blipFill>
        <p:spPr>
          <a:xfrm>
            <a:off x="5365675" y="1334150"/>
            <a:ext cx="3466625" cy="1845350"/>
          </a:xfrm>
          <a:prstGeom prst="rect">
            <a:avLst/>
          </a:prstGeom>
          <a:noFill/>
          <a:ln>
            <a:noFill/>
          </a:ln>
        </p:spPr>
      </p:pic>
      <p:sp>
        <p:nvSpPr>
          <p:cNvPr id="7" name="Google Shape;2189;p32">
            <a:extLst>
              <a:ext uri="{FF2B5EF4-FFF2-40B4-BE49-F238E27FC236}">
                <a16:creationId xmlns:a16="http://schemas.microsoft.com/office/drawing/2014/main" id="{D7C1E18B-5323-5698-20FD-16DDEAF6B626}"/>
              </a:ext>
            </a:extLst>
          </p:cNvPr>
          <p:cNvSpPr txBox="1">
            <a:spLocks/>
          </p:cNvSpPr>
          <p:nvPr/>
        </p:nvSpPr>
        <p:spPr>
          <a:xfrm>
            <a:off x="311700" y="3454206"/>
            <a:ext cx="2713685" cy="70872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pPr algn="l"/>
            <a:r>
              <a:rPr lang="en-IN" sz="2100" dirty="0"/>
              <a:t>Prasanta</a:t>
            </a:r>
            <a:r>
              <a:rPr lang="en-IN" sz="1800" dirty="0"/>
              <a:t> Chandra </a:t>
            </a:r>
            <a:r>
              <a:rPr lang="en-IN" sz="1800" dirty="0" err="1"/>
              <a:t>Mahalanobis</a:t>
            </a:r>
            <a:endParaRPr lang="en-IN" sz="1800" dirty="0"/>
          </a:p>
        </p:txBody>
      </p:sp>
      <p:sp>
        <p:nvSpPr>
          <p:cNvPr id="9" name="Google Shape;2190;p32">
            <a:extLst>
              <a:ext uri="{FF2B5EF4-FFF2-40B4-BE49-F238E27FC236}">
                <a16:creationId xmlns:a16="http://schemas.microsoft.com/office/drawing/2014/main" id="{FDCA2061-7B63-529C-40A7-C9BE896467D9}"/>
              </a:ext>
            </a:extLst>
          </p:cNvPr>
          <p:cNvSpPr txBox="1">
            <a:spLocks/>
          </p:cNvSpPr>
          <p:nvPr/>
        </p:nvSpPr>
        <p:spPr>
          <a:xfrm>
            <a:off x="3246037" y="3547568"/>
            <a:ext cx="1573800" cy="522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1800" dirty="0">
                <a:solidFill>
                  <a:schemeClr val="tx1"/>
                </a:solidFill>
              </a:rPr>
              <a:t>Ronald</a:t>
            </a:r>
            <a:r>
              <a:rPr lang="en-IN" sz="1800" dirty="0"/>
              <a:t> </a:t>
            </a:r>
            <a:r>
              <a:rPr lang="en-IN" sz="1800" dirty="0">
                <a:solidFill>
                  <a:schemeClr val="tx1"/>
                </a:solidFill>
              </a:rPr>
              <a:t>fisher</a:t>
            </a:r>
          </a:p>
        </p:txBody>
      </p:sp>
      <p:sp>
        <p:nvSpPr>
          <p:cNvPr id="10" name="Google Shape;2191;p32">
            <a:extLst>
              <a:ext uri="{FF2B5EF4-FFF2-40B4-BE49-F238E27FC236}">
                <a16:creationId xmlns:a16="http://schemas.microsoft.com/office/drawing/2014/main" id="{876A5D54-1672-9CF8-31BF-72C38D6D1FF8}"/>
              </a:ext>
            </a:extLst>
          </p:cNvPr>
          <p:cNvSpPr txBox="1">
            <a:spLocks/>
          </p:cNvSpPr>
          <p:nvPr/>
        </p:nvSpPr>
        <p:spPr>
          <a:xfrm>
            <a:off x="6184126" y="3559930"/>
            <a:ext cx="1839000" cy="6030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1800" dirty="0">
                <a:solidFill>
                  <a:schemeClr val="tx1"/>
                </a:solidFill>
              </a:rPr>
              <a:t>Kaplan-Meier</a:t>
            </a:r>
          </a:p>
        </p:txBody>
      </p:sp>
    </p:spTree>
    <p:extLst>
      <p:ext uri="{BB962C8B-B14F-4D97-AF65-F5344CB8AC3E}">
        <p14:creationId xmlns:p14="http://schemas.microsoft.com/office/powerpoint/2010/main" val="2338449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CBC368CD-E1DB-353C-A71F-DD3C4B8F6E96}"/>
            </a:ext>
          </a:extLst>
        </p:cNvPr>
        <p:cNvGrpSpPr/>
        <p:nvPr/>
      </p:nvGrpSpPr>
      <p:grpSpPr>
        <a:xfrm>
          <a:off x="0" y="0"/>
          <a:ext cx="0" cy="0"/>
          <a:chOff x="0" y="0"/>
          <a:chExt cx="0" cy="0"/>
        </a:xfrm>
      </p:grpSpPr>
      <p:sp>
        <p:nvSpPr>
          <p:cNvPr id="38" name="TextBox 37">
            <a:extLst>
              <a:ext uri="{FF2B5EF4-FFF2-40B4-BE49-F238E27FC236}">
                <a16:creationId xmlns:a16="http://schemas.microsoft.com/office/drawing/2014/main" id="{F3500AB4-2521-C927-E844-7A064348822B}"/>
              </a:ext>
            </a:extLst>
          </p:cNvPr>
          <p:cNvSpPr txBox="1"/>
          <p:nvPr/>
        </p:nvSpPr>
        <p:spPr>
          <a:xfrm>
            <a:off x="367989" y="1195482"/>
            <a:ext cx="6880303" cy="1015663"/>
          </a:xfrm>
          <a:prstGeom prst="rect">
            <a:avLst/>
          </a:prstGeom>
          <a:noFill/>
        </p:spPr>
        <p:txBody>
          <a:bodyPr wrap="square">
            <a:spAutoFit/>
          </a:bodyPr>
          <a:lstStyle/>
          <a:p>
            <a:r>
              <a:rPr lang="en-US" sz="3000" b="0" i="0" dirty="0">
                <a:solidFill>
                  <a:schemeClr val="tx1"/>
                </a:solidFill>
                <a:effectLst/>
              </a:rPr>
              <a:t>A branch of Statistics focused on analyzing the time to an event.</a:t>
            </a:r>
            <a:endParaRPr lang="en-IN" sz="3000" dirty="0">
              <a:solidFill>
                <a:schemeClr val="tx1"/>
              </a:solidFill>
            </a:endParaRPr>
          </a:p>
        </p:txBody>
      </p:sp>
      <p:sp>
        <p:nvSpPr>
          <p:cNvPr id="40" name="TextBox 39">
            <a:extLst>
              <a:ext uri="{FF2B5EF4-FFF2-40B4-BE49-F238E27FC236}">
                <a16:creationId xmlns:a16="http://schemas.microsoft.com/office/drawing/2014/main" id="{073B7142-8555-DCD1-F8F2-B53AFEC852EE}"/>
              </a:ext>
            </a:extLst>
          </p:cNvPr>
          <p:cNvSpPr txBox="1"/>
          <p:nvPr/>
        </p:nvSpPr>
        <p:spPr>
          <a:xfrm>
            <a:off x="367989" y="2275539"/>
            <a:ext cx="7727796" cy="1656864"/>
          </a:xfrm>
          <a:prstGeom prst="rect">
            <a:avLst/>
          </a:prstGeom>
          <a:noFill/>
        </p:spPr>
        <p:txBody>
          <a:bodyPr wrap="square">
            <a:spAutoFit/>
          </a:bodyPr>
          <a:lstStyle/>
          <a:p>
            <a:pPr>
              <a:lnSpc>
                <a:spcPts val="5025"/>
              </a:lnSpc>
              <a:buNone/>
            </a:pPr>
            <a:r>
              <a:rPr lang="en-US" sz="2000" b="0" i="0" dirty="0">
                <a:solidFill>
                  <a:srgbClr val="00B0F0"/>
                </a:solidFill>
                <a:effectLst/>
                <a:latin typeface="YACgEZfALnA 0"/>
              </a:rPr>
              <a:t>Examples:-</a:t>
            </a:r>
            <a:endParaRPr lang="en-US" sz="2000" dirty="0">
              <a:solidFill>
                <a:srgbClr val="00B0F0"/>
              </a:solidFill>
              <a:effectLst/>
              <a:latin typeface="YACgEZfALnA 0"/>
            </a:endParaRPr>
          </a:p>
          <a:p>
            <a:pPr>
              <a:buFont typeface="Arial" panose="020B0604020202020204" pitchFamily="34" charset="0"/>
              <a:buChar char="•"/>
            </a:pPr>
            <a:r>
              <a:rPr lang="en-US" sz="2000" b="0" i="0" dirty="0">
                <a:solidFill>
                  <a:srgbClr val="00B0F0"/>
                </a:solidFill>
                <a:effectLst/>
              </a:rPr>
              <a:t>Time until equipment failure</a:t>
            </a:r>
            <a:endParaRPr lang="en-US" sz="2000" dirty="0">
              <a:solidFill>
                <a:srgbClr val="00B0F0"/>
              </a:solidFill>
            </a:endParaRPr>
          </a:p>
          <a:p>
            <a:pPr>
              <a:buFont typeface="Arial" panose="020B0604020202020204" pitchFamily="34" charset="0"/>
              <a:buChar char="•"/>
            </a:pPr>
            <a:r>
              <a:rPr lang="en-US" sz="2000" b="0" i="0" dirty="0">
                <a:solidFill>
                  <a:srgbClr val="00B0F0"/>
                </a:solidFill>
                <a:effectLst/>
              </a:rPr>
              <a:t>Time until </a:t>
            </a:r>
            <a:r>
              <a:rPr lang="en-US" sz="2000" dirty="0">
                <a:solidFill>
                  <a:srgbClr val="00B0F0"/>
                </a:solidFill>
              </a:rPr>
              <a:t>recurrence/relapse of cancer.</a:t>
            </a:r>
          </a:p>
          <a:p>
            <a:pPr>
              <a:buFont typeface="Arial" panose="020B0604020202020204" pitchFamily="34" charset="0"/>
              <a:buChar char="•"/>
            </a:pPr>
            <a:r>
              <a:rPr lang="en-US" sz="2000" b="0" i="0" dirty="0">
                <a:solidFill>
                  <a:srgbClr val="00B0F0"/>
                </a:solidFill>
                <a:effectLst/>
              </a:rPr>
              <a:t>Time until </a:t>
            </a:r>
            <a:r>
              <a:rPr lang="en-US" sz="2000" dirty="0">
                <a:solidFill>
                  <a:srgbClr val="00B0F0"/>
                </a:solidFill>
              </a:rPr>
              <a:t>death.</a:t>
            </a:r>
          </a:p>
        </p:txBody>
      </p:sp>
      <p:sp>
        <p:nvSpPr>
          <p:cNvPr id="42" name="TextBox 41">
            <a:extLst>
              <a:ext uri="{FF2B5EF4-FFF2-40B4-BE49-F238E27FC236}">
                <a16:creationId xmlns:a16="http://schemas.microsoft.com/office/drawing/2014/main" id="{DCA6034F-7C06-3F1B-2D54-E3E11F508F2B}"/>
              </a:ext>
            </a:extLst>
          </p:cNvPr>
          <p:cNvSpPr txBox="1"/>
          <p:nvPr/>
        </p:nvSpPr>
        <p:spPr>
          <a:xfrm>
            <a:off x="367988" y="418541"/>
            <a:ext cx="8077202" cy="707886"/>
          </a:xfrm>
          <a:prstGeom prst="rect">
            <a:avLst/>
          </a:prstGeom>
          <a:noFill/>
        </p:spPr>
        <p:txBody>
          <a:bodyPr wrap="square">
            <a:spAutoFit/>
          </a:bodyPr>
          <a:lstStyle/>
          <a:p>
            <a:r>
              <a:rPr lang="en-IN" sz="4000" b="0" i="0" dirty="0">
                <a:solidFill>
                  <a:srgbClr val="FFFF00"/>
                </a:solidFill>
                <a:effectLst/>
              </a:rPr>
              <a:t>What is SURVIVAL ANALYSIS</a:t>
            </a:r>
            <a:endParaRPr lang="en-IN" sz="4000" dirty="0">
              <a:solidFill>
                <a:srgbClr val="FFFF00"/>
              </a:solidFill>
            </a:endParaRPr>
          </a:p>
        </p:txBody>
      </p:sp>
    </p:spTree>
    <p:extLst>
      <p:ext uri="{BB962C8B-B14F-4D97-AF65-F5344CB8AC3E}">
        <p14:creationId xmlns:p14="http://schemas.microsoft.com/office/powerpoint/2010/main" val="372651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0529AEE3-2A70-D4EB-C52B-C4B5C84EDE2F}"/>
            </a:ext>
          </a:extLst>
        </p:cNvPr>
        <p:cNvGrpSpPr/>
        <p:nvPr/>
      </p:nvGrpSpPr>
      <p:grpSpPr>
        <a:xfrm>
          <a:off x="0" y="0"/>
          <a:ext cx="0" cy="0"/>
          <a:chOff x="0" y="0"/>
          <a:chExt cx="0" cy="0"/>
        </a:xfrm>
      </p:grpSpPr>
      <p:pic>
        <p:nvPicPr>
          <p:cNvPr id="34" name="Google Shape;2406;p44">
            <a:extLst>
              <a:ext uri="{FF2B5EF4-FFF2-40B4-BE49-F238E27FC236}">
                <a16:creationId xmlns:a16="http://schemas.microsoft.com/office/drawing/2014/main" id="{9FE29BCB-C8B8-1B6A-FE43-539D73EE8F15}"/>
              </a:ext>
            </a:extLst>
          </p:cNvPr>
          <p:cNvPicPr preferRelativeResize="0"/>
          <p:nvPr/>
        </p:nvPicPr>
        <p:blipFill>
          <a:blip r:embed="rId3">
            <a:alphaModFix/>
          </a:blip>
          <a:stretch>
            <a:fillRect/>
          </a:stretch>
        </p:blipFill>
        <p:spPr>
          <a:xfrm>
            <a:off x="1043338" y="275238"/>
            <a:ext cx="7271825" cy="4593024"/>
          </a:xfrm>
          <a:prstGeom prst="rect">
            <a:avLst/>
          </a:prstGeom>
          <a:noFill/>
          <a:ln>
            <a:noFill/>
          </a:ln>
        </p:spPr>
      </p:pic>
    </p:spTree>
    <p:extLst>
      <p:ext uri="{BB962C8B-B14F-4D97-AF65-F5344CB8AC3E}">
        <p14:creationId xmlns:p14="http://schemas.microsoft.com/office/powerpoint/2010/main" val="3977605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A371038C-89C2-F45A-BFB9-29D50760D565}"/>
            </a:ext>
          </a:extLst>
        </p:cNvPr>
        <p:cNvGrpSpPr/>
        <p:nvPr/>
      </p:nvGrpSpPr>
      <p:grpSpPr>
        <a:xfrm>
          <a:off x="0" y="0"/>
          <a:ext cx="0" cy="0"/>
          <a:chOff x="0" y="0"/>
          <a:chExt cx="0" cy="0"/>
        </a:xfrm>
      </p:grpSpPr>
      <p:pic>
        <p:nvPicPr>
          <p:cNvPr id="2" name="Google Shape;2489;p48">
            <a:extLst>
              <a:ext uri="{FF2B5EF4-FFF2-40B4-BE49-F238E27FC236}">
                <a16:creationId xmlns:a16="http://schemas.microsoft.com/office/drawing/2014/main" id="{1C472840-4F30-952F-3FF8-252FEA3E66E2}"/>
              </a:ext>
            </a:extLst>
          </p:cNvPr>
          <p:cNvPicPr preferRelativeResize="0"/>
          <p:nvPr/>
        </p:nvPicPr>
        <p:blipFill>
          <a:blip r:embed="rId3">
            <a:alphaModFix/>
          </a:blip>
          <a:stretch>
            <a:fillRect/>
          </a:stretch>
        </p:blipFill>
        <p:spPr>
          <a:xfrm>
            <a:off x="1213950" y="152400"/>
            <a:ext cx="7163449" cy="4838700"/>
          </a:xfrm>
          <a:prstGeom prst="rect">
            <a:avLst/>
          </a:prstGeom>
          <a:noFill/>
          <a:ln>
            <a:noFill/>
          </a:ln>
        </p:spPr>
      </p:pic>
    </p:spTree>
    <p:extLst>
      <p:ext uri="{BB962C8B-B14F-4D97-AF65-F5344CB8AC3E}">
        <p14:creationId xmlns:p14="http://schemas.microsoft.com/office/powerpoint/2010/main" val="586745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158450"/>
            <a:ext cx="8520600" cy="25473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sz="5311" b="1">
                <a:latin typeface="Caveat"/>
                <a:ea typeface="Caveat"/>
                <a:cs typeface="Caveat"/>
                <a:sym typeface="Caveat"/>
              </a:rPr>
              <a:t>         </a:t>
            </a:r>
            <a:endParaRPr sz="5311" b="1">
              <a:latin typeface="Caveat"/>
              <a:ea typeface="Caveat"/>
              <a:cs typeface="Caveat"/>
              <a:sym typeface="Caveat"/>
            </a:endParaRPr>
          </a:p>
          <a:p>
            <a:pPr marL="0" lvl="0" indent="0" algn="l" rtl="0">
              <a:spcBef>
                <a:spcPts val="0"/>
              </a:spcBef>
              <a:spcAft>
                <a:spcPts val="0"/>
              </a:spcAft>
              <a:buNone/>
            </a:pPr>
            <a:endParaRPr sz="5311" b="1">
              <a:latin typeface="Caveat"/>
              <a:ea typeface="Caveat"/>
              <a:cs typeface="Caveat"/>
              <a:sym typeface="Caveat"/>
            </a:endParaRPr>
          </a:p>
          <a:p>
            <a:pPr marL="0" lvl="0" indent="0" algn="l" rtl="0">
              <a:spcBef>
                <a:spcPts val="0"/>
              </a:spcBef>
              <a:spcAft>
                <a:spcPts val="0"/>
              </a:spcAft>
              <a:buNone/>
            </a:pPr>
            <a:endParaRPr sz="5311" b="1">
              <a:latin typeface="Caveat"/>
              <a:ea typeface="Caveat"/>
              <a:cs typeface="Caveat"/>
              <a:sym typeface="Caveat"/>
            </a:endParaRPr>
          </a:p>
          <a:p>
            <a:pPr marL="0" lvl="0" indent="0" algn="l" rtl="0">
              <a:spcBef>
                <a:spcPts val="0"/>
              </a:spcBef>
              <a:spcAft>
                <a:spcPts val="0"/>
              </a:spcAft>
              <a:buNone/>
            </a:pPr>
            <a:endParaRPr sz="5311" b="1">
              <a:latin typeface="Caveat"/>
              <a:ea typeface="Caveat"/>
              <a:cs typeface="Caveat"/>
              <a:sym typeface="Caveat"/>
            </a:endParaRPr>
          </a:p>
          <a:p>
            <a:pPr marL="0" lvl="0" indent="0" algn="l" rtl="0">
              <a:spcBef>
                <a:spcPts val="0"/>
              </a:spcBef>
              <a:spcAft>
                <a:spcPts val="0"/>
              </a:spcAft>
              <a:buNone/>
            </a:pPr>
            <a:r>
              <a:rPr lang="en" sz="5311" b="1">
                <a:latin typeface="Caveat"/>
                <a:ea typeface="Caveat"/>
                <a:cs typeface="Caveat"/>
                <a:sym typeface="Caveat"/>
              </a:rPr>
              <a:t>Survival Analysis of Adult     Tuberculosis Disease</a:t>
            </a:r>
            <a:endParaRPr sz="5311" b="1">
              <a:latin typeface="Caveat"/>
              <a:ea typeface="Caveat"/>
              <a:cs typeface="Caveat"/>
              <a:sym typeface="Caveat"/>
            </a:endParaRPr>
          </a:p>
          <a:p>
            <a:pPr marL="0" lvl="0" indent="0" algn="ctr" rtl="0">
              <a:spcBef>
                <a:spcPts val="0"/>
              </a:spcBef>
              <a:spcAft>
                <a:spcPts val="0"/>
              </a:spcAft>
              <a:buNone/>
            </a:pPr>
            <a:endParaRPr sz="5311" b="1">
              <a:latin typeface="Caveat"/>
              <a:ea typeface="Caveat"/>
              <a:cs typeface="Caveat"/>
              <a:sym typeface="Caveat"/>
            </a:endParaRPr>
          </a:p>
          <a:p>
            <a:pPr marL="0" lvl="0" indent="0" algn="l" rtl="0">
              <a:spcBef>
                <a:spcPts val="0"/>
              </a:spcBef>
              <a:spcAft>
                <a:spcPts val="0"/>
              </a:spcAft>
              <a:buNone/>
            </a:pPr>
            <a:r>
              <a:rPr lang="en" sz="2533">
                <a:latin typeface="Pacifico"/>
                <a:ea typeface="Pacifico"/>
                <a:cs typeface="Pacifico"/>
                <a:sym typeface="Pacifico"/>
              </a:rPr>
              <a:t>Olurotimi Bankole Ajagbe, Zubair Kabair, Terry O’Connor</a:t>
            </a:r>
            <a:endParaRPr sz="2533">
              <a:latin typeface="Pacifico"/>
              <a:ea typeface="Pacifico"/>
              <a:cs typeface="Pacifico"/>
              <a:sym typeface="Pacifico"/>
            </a:endParaRPr>
          </a:p>
        </p:txBody>
      </p:sp>
      <p:sp>
        <p:nvSpPr>
          <p:cNvPr id="55" name="Google Shape;55;p13"/>
          <p:cNvSpPr txBox="1">
            <a:spLocks noGrp="1"/>
          </p:cNvSpPr>
          <p:nvPr>
            <p:ph type="subTitle" idx="1"/>
          </p:nvPr>
        </p:nvSpPr>
        <p:spPr>
          <a:xfrm>
            <a:off x="311700" y="3285075"/>
            <a:ext cx="8520600" cy="1371000"/>
          </a:xfrm>
          <a:prstGeom prst="rect">
            <a:avLst/>
          </a:prstGeom>
        </p:spPr>
        <p:txBody>
          <a:bodyPr spcFirstLastPara="1" wrap="square" lIns="91425" tIns="91425" rIns="91425" bIns="91425" anchor="t" anchorCtr="0">
            <a:normAutofit fontScale="62500" lnSpcReduction="20000"/>
          </a:bodyPr>
          <a:lstStyle/>
          <a:p>
            <a:pPr marL="0" lvl="0" indent="0" algn="ctr" rtl="0">
              <a:spcBef>
                <a:spcPts val="0"/>
              </a:spcBef>
              <a:spcAft>
                <a:spcPts val="0"/>
              </a:spcAft>
              <a:buNone/>
            </a:pPr>
            <a:r>
              <a:rPr lang="en" b="1">
                <a:latin typeface="Comfortaa"/>
                <a:ea typeface="Comfortaa"/>
                <a:cs typeface="Comfortaa"/>
                <a:sym typeface="Comfortaa"/>
              </a:rPr>
              <a:t>Department of Public Health and Epidemiology, University College Cork, Cork, Ireland.</a:t>
            </a:r>
            <a:endParaRPr b="1">
              <a:latin typeface="Comfortaa"/>
              <a:ea typeface="Comfortaa"/>
              <a:cs typeface="Comfortaa"/>
              <a:sym typeface="Comfortaa"/>
            </a:endParaRPr>
          </a:p>
          <a:p>
            <a:pPr marL="0" lvl="0" indent="0" algn="ctr" rtl="0">
              <a:spcBef>
                <a:spcPts val="0"/>
              </a:spcBef>
              <a:spcAft>
                <a:spcPts val="0"/>
              </a:spcAft>
              <a:buNone/>
            </a:pPr>
            <a:r>
              <a:rPr lang="en" b="1">
                <a:latin typeface="Comfortaa"/>
                <a:ea typeface="Comfortaa"/>
                <a:cs typeface="Comfortaa"/>
                <a:sym typeface="Comfortaa"/>
              </a:rPr>
              <a:t>Mercy University Hospital, Cork, Ireland.</a:t>
            </a:r>
            <a:endParaRPr b="1">
              <a:latin typeface="Comfortaa"/>
              <a:ea typeface="Comfortaa"/>
              <a:cs typeface="Comfortaa"/>
              <a:sym typeface="Comfortaa"/>
            </a:endParaRPr>
          </a:p>
          <a:p>
            <a:pPr marL="0" lvl="0" indent="0" algn="ctr" rtl="0">
              <a:spcBef>
                <a:spcPts val="0"/>
              </a:spcBef>
              <a:spcAft>
                <a:spcPts val="0"/>
              </a:spcAft>
              <a:buNone/>
            </a:pPr>
            <a:r>
              <a:rPr lang="en" b="1">
                <a:latin typeface="Comfortaa"/>
                <a:ea typeface="Comfortaa"/>
                <a:cs typeface="Comfortaa"/>
                <a:sym typeface="Comfortaa"/>
              </a:rPr>
              <a:t>                          </a:t>
            </a:r>
            <a:endParaRPr sz="4080">
              <a:latin typeface="Amatic SC"/>
              <a:ea typeface="Amatic SC"/>
              <a:cs typeface="Amatic SC"/>
              <a:sym typeface="Amatic SC"/>
            </a:endParaRPr>
          </a:p>
          <a:p>
            <a:pPr marL="0" lvl="0" indent="0" algn="ctr" rtl="0">
              <a:spcBef>
                <a:spcPts val="0"/>
              </a:spcBef>
              <a:spcAft>
                <a:spcPts val="0"/>
              </a:spcAft>
              <a:buNone/>
            </a:pPr>
            <a:r>
              <a:rPr lang="en">
                <a:latin typeface="Amatic SC"/>
                <a:ea typeface="Amatic SC"/>
                <a:cs typeface="Amatic SC"/>
                <a:sym typeface="Amatic SC"/>
              </a:rPr>
              <a:t>                                                                                              </a:t>
            </a:r>
            <a:endParaRPr>
              <a:latin typeface="Amatic SC"/>
              <a:ea typeface="Amatic SC"/>
              <a:cs typeface="Amatic SC"/>
              <a:sym typeface="Amatic SC"/>
            </a:endParaRPr>
          </a:p>
        </p:txBody>
      </p:sp>
      <p:pic>
        <p:nvPicPr>
          <p:cNvPr id="56" name="Google Shape;56;p13"/>
          <p:cNvPicPr preferRelativeResize="0"/>
          <p:nvPr/>
        </p:nvPicPr>
        <p:blipFill>
          <a:blip r:embed="rId3">
            <a:alphaModFix/>
          </a:blip>
          <a:stretch>
            <a:fillRect/>
          </a:stretch>
        </p:blipFill>
        <p:spPr>
          <a:xfrm>
            <a:off x="5971073" y="235249"/>
            <a:ext cx="2552625" cy="1734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109700"/>
            <a:ext cx="8520600" cy="42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4520" b="1">
                <a:latin typeface="Amatic SC"/>
                <a:ea typeface="Amatic SC"/>
                <a:cs typeface="Amatic SC"/>
                <a:sym typeface="Amatic SC"/>
              </a:rPr>
              <a:t>Introduction</a:t>
            </a:r>
            <a:endParaRPr sz="4520" b="1">
              <a:latin typeface="Amatic SC"/>
              <a:ea typeface="Amatic SC"/>
              <a:cs typeface="Amatic SC"/>
              <a:sym typeface="Amatic SC"/>
            </a:endParaRPr>
          </a:p>
        </p:txBody>
      </p:sp>
      <p:sp>
        <p:nvSpPr>
          <p:cNvPr id="67" name="Google Shape;67;p15"/>
          <p:cNvSpPr txBox="1">
            <a:spLocks noGrp="1"/>
          </p:cNvSpPr>
          <p:nvPr>
            <p:ph type="body" idx="1"/>
          </p:nvPr>
        </p:nvSpPr>
        <p:spPr>
          <a:xfrm>
            <a:off x="404000" y="804450"/>
            <a:ext cx="8520600" cy="38862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SzPts val="1500"/>
              <a:buChar char="●"/>
            </a:pPr>
            <a:r>
              <a:rPr lang="en" sz="1500" b="1"/>
              <a:t>Tuberculosis (TB) remains a major global health problem. It causes ill health among millions of people and ranks as the second leading cause of death from an infectious disease worldwide after human immunodeficiency virus (HIV).</a:t>
            </a:r>
            <a:endParaRPr sz="1500" b="1"/>
          </a:p>
          <a:p>
            <a:pPr marL="457200" lvl="0" indent="-323850" algn="l" rtl="0">
              <a:spcBef>
                <a:spcPts val="0"/>
              </a:spcBef>
              <a:spcAft>
                <a:spcPts val="0"/>
              </a:spcAft>
              <a:buSzPts val="1500"/>
              <a:buChar char="●"/>
            </a:pPr>
            <a:r>
              <a:rPr lang="en" sz="1500" b="1"/>
              <a:t>Many studies have been conducted on TB; however, there are few studies that focus specifically on survival analysis of TB patients.</a:t>
            </a:r>
            <a:endParaRPr sz="1500" b="1"/>
          </a:p>
          <a:p>
            <a:pPr marL="457200" lvl="0" indent="-323850" algn="l" rtl="0">
              <a:spcBef>
                <a:spcPts val="0"/>
              </a:spcBef>
              <a:spcAft>
                <a:spcPts val="0"/>
              </a:spcAft>
              <a:buSzPts val="1500"/>
              <a:buChar char="●"/>
            </a:pPr>
            <a:r>
              <a:rPr lang="en" sz="1500" b="1"/>
              <a:t> Survival analysis is generally defined as a set of methods for analysing data where the outcome variable is the time until the occurrence of an event of interest.</a:t>
            </a:r>
            <a:endParaRPr sz="1500" b="1"/>
          </a:p>
          <a:p>
            <a:pPr marL="457200" lvl="0" indent="-323850" algn="l" rtl="0">
              <a:spcBef>
                <a:spcPts val="0"/>
              </a:spcBef>
              <a:spcAft>
                <a:spcPts val="0"/>
              </a:spcAft>
              <a:buSzPts val="1500"/>
              <a:buChar char="●"/>
            </a:pPr>
            <a:r>
              <a:rPr lang="en" sz="1500" b="1"/>
              <a:t> The specific difficulties relating to survival analysis arise largely from the fact that only some individuals have experienced the event and, subsequently, survival times will be unknown for a subset of the study group. This phenomenon is called censoring.</a:t>
            </a:r>
            <a:endParaRPr sz="1500" b="1"/>
          </a:p>
          <a:p>
            <a:pPr marL="457200" lvl="0" indent="-323850" algn="l" rtl="0">
              <a:spcBef>
                <a:spcPts val="0"/>
              </a:spcBef>
              <a:spcAft>
                <a:spcPts val="0"/>
              </a:spcAft>
              <a:buSzPts val="1500"/>
              <a:buChar char="●"/>
            </a:pPr>
            <a:r>
              <a:rPr lang="en" sz="1500" b="1"/>
              <a:t>A survival analysis of all bacteriologically confirmed cases of adult TB disease in County Cork. Ireland was conducted.The aim of this study was to estimate survival time (ST) including median time of survival and to assess the association and impact of covariates (TB risk factors) to event status and ST.</a:t>
            </a:r>
            <a:endParaRPr sz="1500"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121875"/>
            <a:ext cx="8520600" cy="76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4620" b="1">
                <a:latin typeface="Amatic SC"/>
                <a:ea typeface="Amatic SC"/>
                <a:cs typeface="Amatic SC"/>
                <a:sym typeface="Amatic SC"/>
              </a:rPr>
              <a:t>HYPOTHESIS</a:t>
            </a:r>
            <a:endParaRPr sz="4620" b="1">
              <a:latin typeface="Amatic SC"/>
              <a:ea typeface="Amatic SC"/>
              <a:cs typeface="Amatic SC"/>
              <a:sym typeface="Amatic SC"/>
            </a:endParaRPr>
          </a:p>
        </p:txBody>
      </p:sp>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latin typeface="Comic Sans MS"/>
                <a:ea typeface="Comic Sans MS"/>
                <a:cs typeface="Comic Sans MS"/>
                <a:sym typeface="Comic Sans MS"/>
              </a:rPr>
              <a:t>The null hypothesis for the log-rank test is as follows:-</a:t>
            </a:r>
            <a:endParaRPr b="1">
              <a:latin typeface="Comic Sans MS"/>
              <a:ea typeface="Comic Sans MS"/>
              <a:cs typeface="Comic Sans MS"/>
              <a:sym typeface="Comic Sans MS"/>
            </a:endParaRPr>
          </a:p>
          <a:p>
            <a:pPr marL="0" lvl="0" indent="0" algn="l" rtl="0">
              <a:spcBef>
                <a:spcPts val="1200"/>
              </a:spcBef>
              <a:spcAft>
                <a:spcPts val="0"/>
              </a:spcAft>
              <a:buNone/>
            </a:pPr>
            <a:r>
              <a:rPr lang="en" sz="2200" i="1"/>
              <a:t>H0:There is no significant difference between the two survival groups.</a:t>
            </a:r>
            <a:endParaRPr sz="2200" i="1"/>
          </a:p>
          <a:p>
            <a:pPr marL="0" lvl="0" indent="0" algn="l" rtl="0">
              <a:spcBef>
                <a:spcPts val="1200"/>
              </a:spcBef>
              <a:spcAft>
                <a:spcPts val="0"/>
              </a:spcAft>
              <a:buNone/>
            </a:pPr>
            <a:r>
              <a:rPr lang="en" sz="2200" i="1"/>
              <a:t>                                                      Vs</a:t>
            </a:r>
            <a:endParaRPr sz="2200" i="1"/>
          </a:p>
          <a:p>
            <a:pPr marL="0" lvl="0" indent="0" algn="l" rtl="0">
              <a:spcBef>
                <a:spcPts val="1200"/>
              </a:spcBef>
              <a:spcAft>
                <a:spcPts val="1200"/>
              </a:spcAft>
              <a:buNone/>
            </a:pPr>
            <a:r>
              <a:rPr lang="en" sz="2200" i="1"/>
              <a:t>H1:There is a significant difference between the two survival groups.</a:t>
            </a:r>
            <a:endParaRPr sz="2200" i="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4466" b="1">
                <a:latin typeface="Amatic SC"/>
                <a:ea typeface="Amatic SC"/>
                <a:cs typeface="Amatic SC"/>
                <a:sym typeface="Amatic SC"/>
              </a:rPr>
              <a:t>Methods and Data Collection</a:t>
            </a:r>
            <a:endParaRPr sz="4466" b="1">
              <a:latin typeface="Amatic SC"/>
              <a:ea typeface="Amatic SC"/>
              <a:cs typeface="Amatic SC"/>
              <a:sym typeface="Amatic SC"/>
            </a:endParaRPr>
          </a:p>
          <a:p>
            <a:pPr marL="0" lvl="0" indent="0" algn="l" rtl="0">
              <a:spcBef>
                <a:spcPts val="0"/>
              </a:spcBef>
              <a:spcAft>
                <a:spcPts val="0"/>
              </a:spcAft>
              <a:buNone/>
            </a:pPr>
            <a:endParaRPr/>
          </a:p>
        </p:txBody>
      </p:sp>
      <p:sp>
        <p:nvSpPr>
          <p:cNvPr id="79" name="Google Shape;79;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342900" algn="l" rtl="0">
              <a:spcBef>
                <a:spcPts val="0"/>
              </a:spcBef>
              <a:spcAft>
                <a:spcPts val="0"/>
              </a:spcAft>
              <a:buSzPts val="1800"/>
              <a:buChar char="●"/>
            </a:pPr>
            <a:r>
              <a:rPr lang="en" b="1"/>
              <a:t>This is a retrospective cohort research study which tries to analyse the survival of adult TB disease of patients that was treated in County Cork, Ireland.</a:t>
            </a:r>
            <a:endParaRPr b="1"/>
          </a:p>
          <a:p>
            <a:pPr marL="457200" lvl="0" indent="-342900" algn="l" rtl="0">
              <a:spcBef>
                <a:spcPts val="0"/>
              </a:spcBef>
              <a:spcAft>
                <a:spcPts val="0"/>
              </a:spcAft>
              <a:buSzPts val="1800"/>
              <a:buChar char="●"/>
            </a:pPr>
            <a:r>
              <a:rPr lang="en" b="1"/>
              <a:t>Inclusion criteria were definite case of TB which was defined as a patient in whom TB had been confirmed by bacteriology (either by culture or with sputum smears positive for acid fast bacilli (AFB+). </a:t>
            </a:r>
            <a:endParaRPr b="1"/>
          </a:p>
          <a:p>
            <a:pPr marL="457200" lvl="0" indent="-342900" algn="l" rtl="0">
              <a:spcBef>
                <a:spcPts val="0"/>
              </a:spcBef>
              <a:spcAft>
                <a:spcPts val="0"/>
              </a:spcAft>
              <a:buSzPts val="1800"/>
              <a:buChar char="●"/>
            </a:pPr>
            <a:r>
              <a:rPr lang="en" b="1"/>
              <a:t>Inclusion of patients who were 18 years and above as at the time of diagnosis and had diagnosis and treatment between between January 2008-December 2012.</a:t>
            </a:r>
            <a:endParaRPr b="1"/>
          </a:p>
          <a:p>
            <a:pPr marL="457200" lvl="0" indent="-342900" algn="l" rtl="0">
              <a:spcBef>
                <a:spcPts val="0"/>
              </a:spcBef>
              <a:spcAft>
                <a:spcPts val="0"/>
              </a:spcAft>
              <a:buSzPts val="1800"/>
              <a:buChar char="●"/>
            </a:pPr>
            <a:r>
              <a:rPr lang="en" b="1"/>
              <a:t>The Data were collected by the National Tuberculosis Notification form in conjunction with HPSE  in Ireland.</a:t>
            </a:r>
            <a:endParaRPr b="1"/>
          </a:p>
          <a:p>
            <a:pPr marL="457200" lvl="0" indent="-342900" algn="l" rtl="0">
              <a:spcBef>
                <a:spcPts val="0"/>
              </a:spcBef>
              <a:spcAft>
                <a:spcPts val="0"/>
              </a:spcAft>
              <a:buSzPts val="1800"/>
              <a:buChar char="●"/>
            </a:pPr>
            <a:r>
              <a:rPr lang="en" b="1"/>
              <a:t>The analysis was carried out using SPSS software version 15.0</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BF1572-1003-DC96-9DF8-44FBD37A42E9}"/>
              </a:ext>
            </a:extLst>
          </p:cNvPr>
          <p:cNvPicPr>
            <a:picLocks noChangeAspect="1"/>
          </p:cNvPicPr>
          <p:nvPr/>
        </p:nvPicPr>
        <p:blipFill>
          <a:blip r:embed="rId2"/>
          <a:stretch>
            <a:fillRect/>
          </a:stretch>
        </p:blipFill>
        <p:spPr>
          <a:xfrm>
            <a:off x="1271240" y="380670"/>
            <a:ext cx="6298112" cy="4382160"/>
          </a:xfrm>
          <a:prstGeom prst="rect">
            <a:avLst/>
          </a:prstGeom>
        </p:spPr>
      </p:pic>
    </p:spTree>
    <p:extLst>
      <p:ext uri="{BB962C8B-B14F-4D97-AF65-F5344CB8AC3E}">
        <p14:creationId xmlns:p14="http://schemas.microsoft.com/office/powerpoint/2010/main" val="4110888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6" name="Google Shape;96;p20"/>
          <p:cNvPicPr preferRelativeResize="0"/>
          <p:nvPr/>
        </p:nvPicPr>
        <p:blipFill>
          <a:blip r:embed="rId3">
            <a:alphaModFix/>
          </a:blip>
          <a:stretch>
            <a:fillRect/>
          </a:stretch>
        </p:blipFill>
        <p:spPr>
          <a:xfrm>
            <a:off x="182175" y="936700"/>
            <a:ext cx="4318403" cy="3507899"/>
          </a:xfrm>
          <a:prstGeom prst="rect">
            <a:avLst/>
          </a:prstGeom>
          <a:noFill/>
          <a:ln>
            <a:noFill/>
          </a:ln>
        </p:spPr>
      </p:pic>
      <p:pic>
        <p:nvPicPr>
          <p:cNvPr id="97" name="Google Shape;97;p20"/>
          <p:cNvPicPr preferRelativeResize="0"/>
          <p:nvPr/>
        </p:nvPicPr>
        <p:blipFill>
          <a:blip r:embed="rId4">
            <a:alphaModFix/>
          </a:blip>
          <a:stretch>
            <a:fillRect/>
          </a:stretch>
        </p:blipFill>
        <p:spPr>
          <a:xfrm>
            <a:off x="4685100" y="936698"/>
            <a:ext cx="4338627" cy="35078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B66F9C55-3701-C4EA-31EC-F658813B160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0CAB275-24A1-938C-7F13-FA2683980E71}"/>
              </a:ext>
            </a:extLst>
          </p:cNvPr>
          <p:cNvSpPr txBox="1"/>
          <p:nvPr/>
        </p:nvSpPr>
        <p:spPr>
          <a:xfrm>
            <a:off x="204439" y="3084211"/>
            <a:ext cx="8590156" cy="1647567"/>
          </a:xfrm>
          <a:prstGeom prst="rect">
            <a:avLst/>
          </a:prstGeom>
          <a:noFill/>
        </p:spPr>
        <p:txBody>
          <a:bodyPr wrap="square">
            <a:spAutoFit/>
          </a:bodyPr>
          <a:lstStyle/>
          <a:p>
            <a:pPr marL="0" lvl="0" indent="0" algn="just" rtl="0">
              <a:lnSpc>
                <a:spcPct val="115000"/>
              </a:lnSpc>
              <a:spcBef>
                <a:spcPts val="0"/>
              </a:spcBef>
              <a:spcAft>
                <a:spcPts val="0"/>
              </a:spcAft>
              <a:buNone/>
            </a:pPr>
            <a:r>
              <a:rPr lang="en-US" sz="1400" dirty="0">
                <a:solidFill>
                  <a:schemeClr val="tx1"/>
                </a:solidFill>
                <a:latin typeface="Arial"/>
                <a:ea typeface="Arial"/>
                <a:cs typeface="Arial"/>
                <a:sym typeface="Arial"/>
              </a:rPr>
              <a:t>Kaplan-Meier curves and log-rank tests are useful only when the predictor variable is categorical (e.g. treatment A vs treatment B; males vs females). They don’t work easily for quantitative predictors such as gene expression, weight, or age.</a:t>
            </a:r>
          </a:p>
          <a:p>
            <a:pPr marL="0" lvl="0" indent="0" algn="just" rtl="0">
              <a:lnSpc>
                <a:spcPct val="115000"/>
              </a:lnSpc>
              <a:spcBef>
                <a:spcPts val="700"/>
              </a:spcBef>
              <a:spcAft>
                <a:spcPts val="0"/>
              </a:spcAft>
              <a:buNone/>
            </a:pPr>
            <a:r>
              <a:rPr lang="en-US" sz="1400" dirty="0">
                <a:solidFill>
                  <a:schemeClr val="tx1"/>
                </a:solidFill>
                <a:latin typeface="Arial"/>
                <a:ea typeface="Arial"/>
                <a:cs typeface="Arial"/>
                <a:sym typeface="Arial"/>
              </a:rPr>
              <a:t>An alternative method is the Cox proportional hazards regression analysis, which works for both quantitative predictor variables and categorical variables. Furthermore, the Cox regression model extends survival analysis methods to assess simultaneously the effect of several risk factors on survival time.</a:t>
            </a:r>
          </a:p>
        </p:txBody>
      </p:sp>
      <p:pic>
        <p:nvPicPr>
          <p:cNvPr id="1028" name="Picture 4" descr="Cox Regression example">
            <a:extLst>
              <a:ext uri="{FF2B5EF4-FFF2-40B4-BE49-F238E27FC236}">
                <a16:creationId xmlns:a16="http://schemas.microsoft.com/office/drawing/2014/main" id="{F725FAFE-4354-D695-258E-BC48AFFA39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274" y="292777"/>
            <a:ext cx="6962542" cy="2706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3934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p21"/>
          <p:cNvPicPr preferRelativeResize="0"/>
          <p:nvPr/>
        </p:nvPicPr>
        <p:blipFill>
          <a:blip r:embed="rId3">
            <a:alphaModFix/>
          </a:blip>
          <a:stretch>
            <a:fillRect/>
          </a:stretch>
        </p:blipFill>
        <p:spPr>
          <a:xfrm>
            <a:off x="1296600" y="482394"/>
            <a:ext cx="5947177" cy="417870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p22"/>
          <p:cNvPicPr preferRelativeResize="0"/>
          <p:nvPr/>
        </p:nvPicPr>
        <p:blipFill>
          <a:blip r:embed="rId3">
            <a:alphaModFix/>
          </a:blip>
          <a:stretch>
            <a:fillRect/>
          </a:stretch>
        </p:blipFill>
        <p:spPr>
          <a:xfrm>
            <a:off x="152400" y="152400"/>
            <a:ext cx="8839199" cy="48839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4020" b="1">
                <a:latin typeface="Amatic SC"/>
                <a:ea typeface="Amatic SC"/>
                <a:cs typeface="Amatic SC"/>
                <a:sym typeface="Amatic SC"/>
              </a:rPr>
              <a:t>Conclusions</a:t>
            </a:r>
            <a:endParaRPr sz="4020" b="1">
              <a:latin typeface="Amatic SC"/>
              <a:ea typeface="Amatic SC"/>
              <a:cs typeface="Amatic SC"/>
              <a:sym typeface="Amatic SC"/>
            </a:endParaRPr>
          </a:p>
        </p:txBody>
      </p:sp>
      <p:sp>
        <p:nvSpPr>
          <p:cNvPr id="113" name="Google Shape;113;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61950" algn="l" rtl="0">
              <a:spcBef>
                <a:spcPts val="0"/>
              </a:spcBef>
              <a:spcAft>
                <a:spcPts val="0"/>
              </a:spcAft>
              <a:buSzPts val="2100"/>
              <a:buFont typeface="Calibri"/>
              <a:buChar char="●"/>
            </a:pPr>
            <a:r>
              <a:rPr lang="en" sz="2100" i="1">
                <a:latin typeface="Calibri"/>
                <a:ea typeface="Calibri"/>
                <a:cs typeface="Calibri"/>
                <a:sym typeface="Calibri"/>
              </a:rPr>
              <a:t>There was no significant difference in survival curves of male and female and among age group. </a:t>
            </a:r>
            <a:endParaRPr sz="2100" i="1">
              <a:latin typeface="Calibri"/>
              <a:ea typeface="Calibri"/>
              <a:cs typeface="Calibri"/>
              <a:sym typeface="Calibri"/>
            </a:endParaRPr>
          </a:p>
          <a:p>
            <a:pPr marL="457200" lvl="0" indent="-361950" algn="l" rtl="0">
              <a:spcBef>
                <a:spcPts val="0"/>
              </a:spcBef>
              <a:spcAft>
                <a:spcPts val="0"/>
              </a:spcAft>
              <a:buSzPts val="2100"/>
              <a:buFont typeface="Calibri"/>
              <a:buChar char="●"/>
            </a:pPr>
            <a:r>
              <a:rPr lang="en" sz="2100" i="1">
                <a:latin typeface="Calibri"/>
                <a:ea typeface="Calibri"/>
                <a:cs typeface="Calibri"/>
                <a:sym typeface="Calibri"/>
              </a:rPr>
              <a:t>Women had a longer ST compared to men. But men had a higher hazard rate compared to women.</a:t>
            </a:r>
            <a:endParaRPr sz="2100" i="1">
              <a:latin typeface="Calibri"/>
              <a:ea typeface="Calibri"/>
              <a:cs typeface="Calibri"/>
              <a:sym typeface="Calibri"/>
            </a:endParaRPr>
          </a:p>
          <a:p>
            <a:pPr marL="457200" lvl="0" indent="-361950" algn="l" rtl="0">
              <a:spcBef>
                <a:spcPts val="0"/>
              </a:spcBef>
              <a:spcAft>
                <a:spcPts val="0"/>
              </a:spcAft>
              <a:buSzPts val="2100"/>
              <a:buFont typeface="Calibri"/>
              <a:buChar char="●"/>
            </a:pPr>
            <a:r>
              <a:rPr lang="en" sz="2100" i="1">
                <a:latin typeface="Calibri"/>
                <a:ea typeface="Calibri"/>
                <a:cs typeface="Calibri"/>
                <a:sym typeface="Calibri"/>
              </a:rPr>
              <a:t> AntiTNF , IMMSD and diabetes were found to be associated with longer ST, while alcohol, smoking, RICHE, and BICHE were associated with shorter ST. </a:t>
            </a:r>
            <a:endParaRPr sz="2100" i="1">
              <a:latin typeface="Calibri"/>
              <a:ea typeface="Calibri"/>
              <a:cs typeface="Calibri"/>
              <a:sym typeface="Calibri"/>
            </a:endParaRPr>
          </a:p>
          <a:p>
            <a:pPr marL="457200" lvl="0" indent="-361950" algn="l" rtl="0">
              <a:spcBef>
                <a:spcPts val="0"/>
              </a:spcBef>
              <a:spcAft>
                <a:spcPts val="0"/>
              </a:spcAft>
              <a:buSzPts val="2100"/>
              <a:buFont typeface="Calibri"/>
              <a:buChar char="●"/>
            </a:pPr>
            <a:r>
              <a:rPr lang="en" sz="2100" i="1">
                <a:latin typeface="Calibri"/>
                <a:ea typeface="Calibri"/>
                <a:cs typeface="Calibri"/>
                <a:sym typeface="Calibri"/>
              </a:rPr>
              <a:t>The association was however not statistically significant as the p-value was greater than 0.05. </a:t>
            </a:r>
            <a:endParaRPr sz="2100" i="1">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5"/>
          <p:cNvSpPr txBox="1">
            <a:spLocks noGrp="1"/>
          </p:cNvSpPr>
          <p:nvPr>
            <p:ph type="ctrTitle"/>
          </p:nvPr>
        </p:nvSpPr>
        <p:spPr>
          <a:xfrm>
            <a:off x="311700" y="362000"/>
            <a:ext cx="2653200" cy="6369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a:latin typeface="Amatic SC"/>
                <a:ea typeface="Amatic SC"/>
                <a:cs typeface="Amatic SC"/>
                <a:sym typeface="Amatic SC"/>
              </a:rPr>
              <a:t>REFERENCES</a:t>
            </a:r>
            <a:endParaRPr>
              <a:latin typeface="Amatic SC"/>
              <a:ea typeface="Amatic SC"/>
              <a:cs typeface="Amatic SC"/>
              <a:sym typeface="Amatic SC"/>
            </a:endParaRPr>
          </a:p>
        </p:txBody>
      </p:sp>
      <p:sp>
        <p:nvSpPr>
          <p:cNvPr id="124" name="Google Shape;124;p25"/>
          <p:cNvSpPr txBox="1">
            <a:spLocks noGrp="1"/>
          </p:cNvSpPr>
          <p:nvPr>
            <p:ph type="subTitle" idx="1"/>
          </p:nvPr>
        </p:nvSpPr>
        <p:spPr>
          <a:xfrm>
            <a:off x="311700" y="1168975"/>
            <a:ext cx="8520600" cy="3624000"/>
          </a:xfrm>
          <a:prstGeom prst="rect">
            <a:avLst/>
          </a:prstGeom>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358"/>
              <a:buNone/>
            </a:pPr>
            <a:r>
              <a:rPr lang="en" sz="1810" dirty="0"/>
              <a:t>1.World Health Organization Report(2013)Global Tuberculosis report.</a:t>
            </a:r>
            <a:endParaRPr sz="1810" dirty="0"/>
          </a:p>
          <a:p>
            <a:pPr marL="0" lvl="0" indent="0" algn="ctr" rtl="0">
              <a:lnSpc>
                <a:spcPct val="80000"/>
              </a:lnSpc>
              <a:spcBef>
                <a:spcPts val="0"/>
              </a:spcBef>
              <a:spcAft>
                <a:spcPts val="0"/>
              </a:spcAft>
              <a:buSzPts val="358"/>
              <a:buNone/>
            </a:pPr>
            <a:r>
              <a:rPr lang="en" sz="1810" dirty="0"/>
              <a:t>2.Health Protection Surveillance centre(2013)TB Cases notified in Ireland in 2011 provisional data.A report by the Health Protection Surveillance Centre.</a:t>
            </a:r>
            <a:endParaRPr sz="1810" dirty="0"/>
          </a:p>
          <a:p>
            <a:pPr marL="0" lvl="0" indent="0" algn="ctr" rtl="0">
              <a:lnSpc>
                <a:spcPct val="80000"/>
              </a:lnSpc>
              <a:spcBef>
                <a:spcPts val="0"/>
              </a:spcBef>
              <a:spcAft>
                <a:spcPts val="0"/>
              </a:spcAft>
              <a:buSzPts val="358"/>
              <a:buNone/>
            </a:pPr>
            <a:r>
              <a:rPr lang="en" sz="1810" u="sng" dirty="0">
                <a:solidFill>
                  <a:schemeClr val="hlink"/>
                </a:solidFill>
                <a:hlinkClick r:id="rId3"/>
              </a:rPr>
              <a:t>https://journals.plos.org/plosone/article?id=10.1371/journal.pone.0112838#</a:t>
            </a:r>
            <a:endParaRPr sz="1810" dirty="0"/>
          </a:p>
          <a:p>
            <a:pPr marL="0" lvl="0" indent="0" algn="ctr" rtl="0">
              <a:lnSpc>
                <a:spcPct val="80000"/>
              </a:lnSpc>
              <a:spcBef>
                <a:spcPts val="0"/>
              </a:spcBef>
              <a:spcAft>
                <a:spcPts val="0"/>
              </a:spcAft>
              <a:buSzPts val="358"/>
              <a:buNone/>
            </a:pPr>
            <a:r>
              <a:rPr lang="en" sz="1810" u="sng" dirty="0">
                <a:solidFill>
                  <a:schemeClr val="hlink"/>
                </a:solidFill>
                <a:hlinkClick r:id="rId4"/>
              </a:rPr>
              <a:t>http://scholar.google.com/scholar?q=TB+cases+notified+in+Ireland+in+2011.+Provisional+Data++2013</a:t>
            </a:r>
            <a:endParaRPr sz="1810" dirty="0"/>
          </a:p>
          <a:p>
            <a:pPr marL="0" lvl="0" indent="0" algn="ctr" rtl="0">
              <a:lnSpc>
                <a:spcPct val="80000"/>
              </a:lnSpc>
              <a:spcBef>
                <a:spcPts val="0"/>
              </a:spcBef>
              <a:spcAft>
                <a:spcPts val="0"/>
              </a:spcAft>
              <a:buSzPts val="358"/>
              <a:buNone/>
            </a:pPr>
            <a:r>
              <a:rPr lang="en" sz="1810" dirty="0"/>
              <a:t>3.</a:t>
            </a:r>
            <a:r>
              <a:rPr lang="en" sz="1800" dirty="0">
                <a:solidFill>
                  <a:srgbClr val="9E9E9E"/>
                </a:solidFill>
              </a:rPr>
              <a:t>Wang J, Shen H (2009) Review of cigarette smoking and tuberculosis in China: intervention is needed for smoking cessation among tuberculosis patients. BMC Public Health 9: 292.</a:t>
            </a:r>
            <a:endParaRPr sz="1800" dirty="0">
              <a:solidFill>
                <a:srgbClr val="9E9E9E"/>
              </a:solidFill>
            </a:endParaRPr>
          </a:p>
          <a:p>
            <a:pPr marL="0" lvl="0" indent="0" algn="ctr" rtl="0">
              <a:lnSpc>
                <a:spcPct val="80000"/>
              </a:lnSpc>
              <a:spcBef>
                <a:spcPts val="0"/>
              </a:spcBef>
              <a:spcAft>
                <a:spcPts val="0"/>
              </a:spcAft>
              <a:buSzPts val="358"/>
              <a:buNone/>
            </a:pPr>
            <a:r>
              <a:rPr lang="en" sz="1800" u="sng" dirty="0">
                <a:solidFill>
                  <a:schemeClr val="hlink"/>
                </a:solidFill>
                <a:hlinkClick r:id="rId3"/>
              </a:rPr>
              <a:t>https://journals.plos.org/plosone/article?id=10.1371/journal.pone.0112838#</a:t>
            </a:r>
            <a:endParaRPr sz="1800" dirty="0">
              <a:solidFill>
                <a:srgbClr val="9E9E9E"/>
              </a:solidFill>
            </a:endParaRPr>
          </a:p>
          <a:p>
            <a:pPr marL="0" lvl="0" indent="0" algn="ctr" rtl="0">
              <a:lnSpc>
                <a:spcPct val="80000"/>
              </a:lnSpc>
              <a:spcBef>
                <a:spcPts val="0"/>
              </a:spcBef>
              <a:spcAft>
                <a:spcPts val="0"/>
              </a:spcAft>
              <a:buSzPts val="358"/>
              <a:buNone/>
            </a:pPr>
            <a:r>
              <a:rPr lang="en" sz="1800" u="sng" dirty="0">
                <a:solidFill>
                  <a:schemeClr val="hlink"/>
                </a:solidFill>
                <a:hlinkClick r:id="rId5"/>
              </a:rPr>
              <a:t>http://scholar.google.com/scholar?q=Review+of+cigarette+smoking+and+tuberculosis+in+China%3A+intervention+is+needed+for+smoking+cessation+among+tuberculosis+patients+Wang+2009</a:t>
            </a:r>
            <a:endParaRPr sz="1800" dirty="0">
              <a:solidFill>
                <a:srgbClr val="9E9E9E"/>
              </a:solidFill>
            </a:endParaRPr>
          </a:p>
          <a:p>
            <a:pPr marL="0" lvl="0" indent="0" algn="ctr" rtl="0">
              <a:lnSpc>
                <a:spcPct val="80000"/>
              </a:lnSpc>
              <a:spcBef>
                <a:spcPts val="0"/>
              </a:spcBef>
              <a:spcAft>
                <a:spcPts val="0"/>
              </a:spcAft>
              <a:buSzPts val="358"/>
              <a:buNone/>
            </a:pPr>
            <a:br>
              <a:rPr lang="en" sz="1800" dirty="0">
                <a:solidFill>
                  <a:srgbClr val="9E9E9E"/>
                </a:solidFill>
              </a:rPr>
            </a:br>
            <a:endParaRPr sz="1900" dirty="0">
              <a:solidFill>
                <a:srgbClr val="9E9E9E"/>
              </a:solidFill>
            </a:endParaRPr>
          </a:p>
          <a:p>
            <a:pPr marL="0" lvl="0" indent="0" algn="ctr" rtl="0">
              <a:lnSpc>
                <a:spcPct val="80000"/>
              </a:lnSpc>
              <a:spcBef>
                <a:spcPts val="0"/>
              </a:spcBef>
              <a:spcAft>
                <a:spcPts val="0"/>
              </a:spcAft>
              <a:buSzPts val="358"/>
              <a:buNone/>
            </a:pPr>
            <a:endParaRPr sz="1510" dirty="0">
              <a:solidFill>
                <a:srgbClr val="9E9E9E"/>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6"/>
          <p:cNvSpPr txBox="1">
            <a:spLocks noGrp="1"/>
          </p:cNvSpPr>
          <p:nvPr>
            <p:ph type="body" idx="1"/>
          </p:nvPr>
        </p:nvSpPr>
        <p:spPr>
          <a:xfrm>
            <a:off x="311700" y="198347"/>
            <a:ext cx="8520600" cy="797829"/>
          </a:xfrm>
          <a:prstGeom prst="rect">
            <a:avLst/>
          </a:prstGeom>
        </p:spPr>
        <p:txBody>
          <a:bodyPr spcFirstLastPara="1" wrap="square" lIns="91425" tIns="91425" rIns="91425" bIns="91425" anchor="t" anchorCtr="0">
            <a:normAutofit fontScale="92500" lnSpcReduction="10000"/>
          </a:bodyPr>
          <a:lstStyle/>
          <a:p>
            <a:pPr marL="0" lvl="0" indent="0" algn="ctr">
              <a:spcAft>
                <a:spcPts val="1200"/>
              </a:spcAft>
              <a:buNone/>
            </a:pPr>
            <a:r>
              <a:rPr lang="en" sz="3000" b="1" u="sng" dirty="0">
                <a:solidFill>
                  <a:schemeClr val="tx1"/>
                </a:solidFill>
              </a:rPr>
              <a:t>Resources TO LEARN DATA SCIENCE</a:t>
            </a:r>
            <a:endParaRPr sz="3000" b="1" u="sng" dirty="0">
              <a:solidFill>
                <a:schemeClr val="tx1"/>
              </a:solidFill>
              <a:latin typeface="Amatic SC"/>
              <a:ea typeface="Amatic SC"/>
              <a:cs typeface="Amatic SC"/>
              <a:sym typeface="Amatic SC"/>
            </a:endParaRPr>
          </a:p>
        </p:txBody>
      </p:sp>
      <p:sp>
        <p:nvSpPr>
          <p:cNvPr id="2" name="Google Shape;129;p26">
            <a:extLst>
              <a:ext uri="{FF2B5EF4-FFF2-40B4-BE49-F238E27FC236}">
                <a16:creationId xmlns:a16="http://schemas.microsoft.com/office/drawing/2014/main" id="{733F8EB8-EF76-B748-5EC7-8777A934B85F}"/>
              </a:ext>
            </a:extLst>
          </p:cNvPr>
          <p:cNvSpPr txBox="1">
            <a:spLocks/>
          </p:cNvSpPr>
          <p:nvPr/>
        </p:nvSpPr>
        <p:spPr>
          <a:xfrm>
            <a:off x="311700" y="1302318"/>
            <a:ext cx="8520600" cy="797829"/>
          </a:xfrm>
          <a:prstGeom prst="rect">
            <a:avLst/>
          </a:prstGeom>
          <a:noFill/>
          <a:ln>
            <a:noFill/>
          </a:ln>
        </p:spPr>
        <p:txBody>
          <a:bodyPr spcFirstLastPara="1" wrap="square" lIns="91425" tIns="91425" rIns="91425" bIns="91425" anchor="t" anchorCtr="0">
            <a:normAutofit fontScale="250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2"/>
              </a:buClr>
              <a:buSzPts val="1800"/>
              <a:buFont typeface="Arial"/>
              <a:buChar char="●"/>
              <a:defRPr sz="1800" b="0" i="0" u="none" strike="noStrike" cap="none">
                <a:solidFill>
                  <a:schemeClr val="lt2"/>
                </a:solidFill>
                <a:latin typeface="Arial"/>
                <a:ea typeface="Arial"/>
                <a:cs typeface="Arial"/>
                <a:sym typeface="Arial"/>
              </a:defRPr>
            </a:lvl1pPr>
            <a:lvl2pPr marL="914400" marR="0" lvl="1" indent="-317500" algn="l" rtl="0">
              <a:lnSpc>
                <a:spcPct val="115000"/>
              </a:lnSpc>
              <a:spcBef>
                <a:spcPts val="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2pPr>
            <a:lvl3pPr marL="1371600" marR="0" lvl="2" indent="-317500" algn="l" rtl="0">
              <a:lnSpc>
                <a:spcPct val="115000"/>
              </a:lnSpc>
              <a:spcBef>
                <a:spcPts val="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3pPr>
            <a:lvl4pPr marL="1828800" marR="0" lvl="3" indent="-317500" algn="l" rtl="0">
              <a:lnSpc>
                <a:spcPct val="115000"/>
              </a:lnSpc>
              <a:spcBef>
                <a:spcPts val="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4pPr>
            <a:lvl5pPr marL="2286000" marR="0" lvl="4" indent="-317500" algn="l" rtl="0">
              <a:lnSpc>
                <a:spcPct val="115000"/>
              </a:lnSpc>
              <a:spcBef>
                <a:spcPts val="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5pPr>
            <a:lvl6pPr marL="2743200" marR="0" lvl="5" indent="-317500" algn="l" rtl="0">
              <a:lnSpc>
                <a:spcPct val="115000"/>
              </a:lnSpc>
              <a:spcBef>
                <a:spcPts val="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6pPr>
            <a:lvl7pPr marL="3200400" marR="0" lvl="6" indent="-317500" algn="l" rtl="0">
              <a:lnSpc>
                <a:spcPct val="115000"/>
              </a:lnSpc>
              <a:spcBef>
                <a:spcPts val="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7pPr>
            <a:lvl8pPr marL="3657600" marR="0" lvl="7" indent="-317500" algn="l" rtl="0">
              <a:lnSpc>
                <a:spcPct val="115000"/>
              </a:lnSpc>
              <a:spcBef>
                <a:spcPts val="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8pPr>
            <a:lvl9pPr marL="4114800" marR="0" lvl="8" indent="-317500" algn="l" rtl="0">
              <a:lnSpc>
                <a:spcPct val="115000"/>
              </a:lnSpc>
              <a:spcBef>
                <a:spcPts val="0"/>
              </a:spcBef>
              <a:spcAft>
                <a:spcPts val="0"/>
              </a:spcAft>
              <a:buClr>
                <a:schemeClr val="lt2"/>
              </a:buClr>
              <a:buSzPts val="1400"/>
              <a:buFont typeface="Arial"/>
              <a:buChar char="■"/>
              <a:defRPr sz="1400" b="0" i="0" u="none" strike="noStrike" cap="none">
                <a:solidFill>
                  <a:schemeClr val="lt2"/>
                </a:solidFill>
                <a:latin typeface="Arial"/>
                <a:ea typeface="Arial"/>
                <a:cs typeface="Arial"/>
                <a:sym typeface="Arial"/>
              </a:defRPr>
            </a:lvl9pPr>
          </a:lstStyle>
          <a:p>
            <a:pPr indent="-457200">
              <a:spcAft>
                <a:spcPts val="1200"/>
              </a:spcAft>
            </a:pPr>
            <a:r>
              <a:rPr lang="en-US" sz="12000" b="1" dirty="0">
                <a:solidFill>
                  <a:schemeClr val="tx1"/>
                </a:solidFill>
                <a:latin typeface="+mj-lt"/>
                <a:ea typeface="Amatic SC"/>
                <a:cs typeface="Amatic SC"/>
                <a:sym typeface="Amatic SC"/>
              </a:rPr>
              <a:t>KRISH NAIK</a:t>
            </a:r>
          </a:p>
          <a:p>
            <a:pPr indent="-457200">
              <a:spcAft>
                <a:spcPts val="1200"/>
              </a:spcAft>
            </a:pPr>
            <a:r>
              <a:rPr lang="en-US" sz="12000" b="1" dirty="0">
                <a:solidFill>
                  <a:schemeClr val="tx1"/>
                </a:solidFill>
                <a:latin typeface="+mj-lt"/>
                <a:ea typeface="Amatic SC"/>
                <a:cs typeface="Amatic SC"/>
                <a:sym typeface="Amatic SC"/>
              </a:rPr>
              <a:t>PROF.RYAN AHMED</a:t>
            </a:r>
          </a:p>
          <a:p>
            <a:pPr indent="-457200">
              <a:spcAft>
                <a:spcPts val="1200"/>
              </a:spcAft>
            </a:pPr>
            <a:r>
              <a:rPr lang="en-US" sz="12000" b="1" dirty="0">
                <a:solidFill>
                  <a:schemeClr val="tx1"/>
                </a:solidFill>
                <a:latin typeface="+mj-lt"/>
                <a:ea typeface="Amatic SC"/>
                <a:cs typeface="Amatic SC"/>
                <a:sym typeface="Amatic SC"/>
              </a:rPr>
              <a:t>STATQUEST</a:t>
            </a:r>
          </a:p>
          <a:p>
            <a:pPr indent="-457200">
              <a:spcAft>
                <a:spcPts val="1200"/>
              </a:spcAft>
            </a:pPr>
            <a:r>
              <a:rPr lang="en-US" sz="12000" b="1" dirty="0">
                <a:solidFill>
                  <a:schemeClr val="tx1"/>
                </a:solidFill>
                <a:latin typeface="+mj-lt"/>
                <a:ea typeface="Amatic SC"/>
                <a:cs typeface="Amatic SC"/>
                <a:sym typeface="Amatic SC"/>
              </a:rPr>
              <a:t>RITVIKMATH</a:t>
            </a:r>
          </a:p>
          <a:p>
            <a:pPr indent="-457200">
              <a:spcAft>
                <a:spcPts val="1200"/>
              </a:spcAft>
            </a:pPr>
            <a:r>
              <a:rPr lang="en-US" sz="12000" b="1" dirty="0">
                <a:solidFill>
                  <a:schemeClr val="tx1"/>
                </a:solidFill>
                <a:latin typeface="+mj-lt"/>
                <a:ea typeface="Amatic SC"/>
                <a:cs typeface="Amatic SC"/>
                <a:sym typeface="Amatic SC"/>
              </a:rPr>
              <a:t>KDNUGGETS</a:t>
            </a:r>
          </a:p>
        </p:txBody>
      </p:sp>
    </p:spTree>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844</Words>
  <Application>Microsoft Office PowerPoint</Application>
  <PresentationFormat>On-screen Show (16:9)</PresentationFormat>
  <Paragraphs>66</Paragraphs>
  <Slides>17</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Pacifico</vt:lpstr>
      <vt:lpstr>Arial</vt:lpstr>
      <vt:lpstr>Comic Sans MS</vt:lpstr>
      <vt:lpstr>Amatic SC</vt:lpstr>
      <vt:lpstr>Calibri</vt:lpstr>
      <vt:lpstr>Caveat</vt:lpstr>
      <vt:lpstr>Comfortaa</vt:lpstr>
      <vt:lpstr>YACgEZfALnA 0</vt:lpstr>
      <vt:lpstr>Simple Dark</vt:lpstr>
      <vt:lpstr>            SURVIVAL ANALYSIS </vt:lpstr>
      <vt:lpstr>            </vt:lpstr>
      <vt:lpstr>PowerPoint Presentation</vt:lpstr>
      <vt:lpstr>PowerPoint Presentation</vt:lpstr>
      <vt:lpstr>PowerPoint Presentation</vt:lpstr>
      <vt:lpstr>             Survival Analysis of Adult     Tuberculosis Disease  Olurotimi Bankole Ajagbe, Zubair Kabair, Terry O’Connor</vt:lpstr>
      <vt:lpstr>Introduction</vt:lpstr>
      <vt:lpstr>HYPOTHESIS</vt:lpstr>
      <vt:lpstr>Methods and Data Collection </vt:lpstr>
      <vt:lpstr>PowerPoint Presentation</vt:lpstr>
      <vt:lpstr>PowerPoint Presentation</vt:lpstr>
      <vt:lpstr>PowerPoint Presentation</vt:lpstr>
      <vt:lpstr>PowerPoint Presentation</vt:lpstr>
      <vt:lpstr>PowerPoint Presentation</vt:lpstr>
      <vt:lpstr>Conclusions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Aishwarya Borkar</cp:lastModifiedBy>
  <cp:revision>1</cp:revision>
  <dcterms:modified xsi:type="dcterms:W3CDTF">2025-07-02T19:42:05Z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2025-07-02T19:41:41Z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e4ee00ff-7efd-4d46-9b6a-9b41ea290be1</vt:lpwstr>
  </property>
  <property fmtid="{D5CDD505-2E9C-101B-9397-08002B2CF9AE}" pid="7" name="MSIP_Label_defa4170-0d19-0005-0004-bc88714345d2_ActionId">
    <vt:lpwstr>6d2f5751-fb08-4dae-aae0-2ffada13b3ff</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